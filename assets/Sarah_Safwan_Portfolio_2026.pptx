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arah-safwan-portfolio.alaa-saf92.chatgpt.site/"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hyperlink" Target="https://sarah-safwan-portfolio.alaa-saf92.chatgpt.site/assets/rhode/Rhode_From_Influence_to_Involvement_Updated.pdf"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daxuen.com/" TargetMode="External"/><Relationship Id="rId3" Type="http://schemas.openxmlformats.org/officeDocument/2006/relationships/hyperlink" Target="https://www.instagram.com/daxuen/"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bellabelles.shop/" TargetMode="External"/><Relationship Id="rId3" Type="http://schemas.openxmlformats.org/officeDocument/2006/relationships/hyperlink" Target="https://www.instagram.com/bellabelles.shop/"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instagram.com/thyacademia/" TargetMode="External"/><Relationship Id="rId3" Type="http://schemas.openxmlformats.org/officeDocument/2006/relationships/hyperlink" Target="https://thyacademia.medium.co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hyperlink" Target="https://open.spotify.com/show/0d1ueJYmkHtrESzCPtqx4n" TargetMode="External"/><Relationship Id="rId4" Type="http://schemas.openxmlformats.org/officeDocument/2006/relationships/hyperlink" Target="https://podcasts.apple.com/eg/podcast/the-sae-talk/id1885249003"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arahsafwan.substack.co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mailto:sarahsaafwan@gmail.com" TargetMode="External"/><Relationship Id="rId3" Type="http://schemas.openxmlformats.org/officeDocument/2006/relationships/hyperlink" Target="https://www.linkedin.com/in/sarahsafwan/" TargetMode="External"/><Relationship Id="rId4" Type="http://schemas.openxmlformats.org/officeDocument/2006/relationships/hyperlink" Target="https://sarah-safwan-portfolio.alaa-saf92.chatgpt.site/" TargetMode="External"/><Relationship Id="rId5" Type="http://schemas.openxmlformats.org/officeDocument/2006/relationships/hyperlink" Target="https://www.instagram.com/sarahsaafwa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3400" y="355600"/>
            <a:ext cx="44450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SARAH SAFWAN / PORTFOLIO 2026</a:t>
            </a:r>
          </a:p>
        </p:txBody>
      </p:sp>
      <p:sp>
        <p:nvSpPr>
          <p:cNvPr id="3" name="TextBox 2"/>
          <p:cNvSpPr txBox="1"/>
          <p:nvPr/>
        </p:nvSpPr>
        <p:spPr>
          <a:xfrm>
            <a:off x="5207000" y="355600"/>
            <a:ext cx="1816100" cy="203200"/>
          </a:xfrm>
          <a:prstGeom prst="rect">
            <a:avLst/>
          </a:prstGeom>
          <a:noFill/>
        </p:spPr>
        <p:txBody>
          <a:bodyPr wrap="none" lIns="0" rIns="0" tIns="0" bIns="0">
            <a:spAutoFit/>
          </a:bodyPr>
          <a:lstStyle/>
          <a:p>
            <a:pPr>
              <a:lnSpc>
                <a:spcPts val="1100"/>
              </a:lnSpc>
              <a:spcAft>
                <a:spcPts val="0"/>
              </a:spcAft>
              <a:defRPr b="1" sz="740">
                <a:solidFill>
                  <a:srgbClr val="57534E"/>
                </a:solidFill>
                <a:latin typeface="DM Sans 9pt"/>
              </a:defRPr>
            </a:pPr>
            <a:r>
              <a:t>SELECTED WORK</a:t>
            </a:r>
          </a:p>
        </p:txBody>
      </p:sp>
      <p:sp>
        <p:nvSpPr>
          <p:cNvPr id="4" name="Rectangle 3"/>
          <p:cNvSpPr/>
          <p:nvPr/>
        </p:nvSpPr>
        <p:spPr>
          <a:xfrm>
            <a:off x="533400" y="6604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33400" y="101346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10274300"/>
            <a:ext cx="6350000" cy="177800"/>
          </a:xfrm>
          <a:prstGeom prst="rect">
            <a:avLst/>
          </a:prstGeom>
          <a:noFill/>
        </p:spPr>
        <p:txBody>
          <a:bodyPr wrap="none" lIns="0" rIns="0" tIns="0" bIns="0">
            <a:spAutoFit/>
          </a:bodyPr>
          <a:lstStyle/>
          <a:p>
            <a:pPr>
              <a:defRPr sz="720">
                <a:latin typeface="DM Sans 9pt"/>
              </a:defRPr>
            </a:pPr>
            <a:r>
              <a:t>Sarah Safwan / Digital Marketing &amp; Creative Specialist                                                    01 / 17</a:t>
            </a:r>
          </a:p>
        </p:txBody>
      </p:sp>
      <p:sp>
        <p:nvSpPr>
          <p:cNvPr id="7" name="TextBox 6"/>
          <p:cNvSpPr txBox="1"/>
          <p:nvPr/>
        </p:nvSpPr>
        <p:spPr>
          <a:xfrm>
            <a:off x="533400" y="1308100"/>
            <a:ext cx="64770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2026 PORTFOLIO</a:t>
            </a:r>
          </a:p>
        </p:txBody>
      </p:sp>
      <p:sp>
        <p:nvSpPr>
          <p:cNvPr id="8" name="TextBox 7"/>
          <p:cNvSpPr txBox="1"/>
          <p:nvPr/>
        </p:nvSpPr>
        <p:spPr>
          <a:xfrm>
            <a:off x="495300" y="2209800"/>
            <a:ext cx="6540500" cy="2197100"/>
          </a:xfrm>
          <a:prstGeom prst="rect">
            <a:avLst/>
          </a:prstGeom>
          <a:noFill/>
        </p:spPr>
        <p:txBody>
          <a:bodyPr wrap="none" lIns="0" rIns="0" tIns="0" bIns="0">
            <a:spAutoFit/>
          </a:bodyPr>
          <a:lstStyle/>
          <a:p>
            <a:pPr>
              <a:lnSpc>
                <a:spcPts val="8400"/>
              </a:lnSpc>
              <a:spcAft>
                <a:spcPts val="0"/>
              </a:spcAft>
              <a:defRPr b="0" sz="7800">
                <a:solidFill>
                  <a:srgbClr val="1C1917"/>
                </a:solidFill>
                <a:latin typeface="Bodoni Moda"/>
              </a:defRPr>
            </a:pPr>
            <a:r>
              <a:t>SARAH</a:t>
            </a:r>
          </a:p>
          <a:p>
            <a:pPr>
              <a:lnSpc>
                <a:spcPts val="8400"/>
              </a:lnSpc>
              <a:spcAft>
                <a:spcPts val="0"/>
              </a:spcAft>
              <a:defRPr b="0" sz="7800">
                <a:solidFill>
                  <a:srgbClr val="1C1917"/>
                </a:solidFill>
                <a:latin typeface="Bodoni Moda"/>
              </a:defRPr>
            </a:pPr>
            <a:r>
              <a:t>SAFWAN</a:t>
            </a:r>
          </a:p>
        </p:txBody>
      </p:sp>
      <p:sp>
        <p:nvSpPr>
          <p:cNvPr id="9" name="Rectangle 8"/>
          <p:cNvSpPr/>
          <p:nvPr/>
        </p:nvSpPr>
        <p:spPr>
          <a:xfrm>
            <a:off x="533400" y="47752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3400" y="5105400"/>
            <a:ext cx="6489700" cy="901700"/>
          </a:xfrm>
          <a:prstGeom prst="rect">
            <a:avLst/>
          </a:prstGeom>
          <a:noFill/>
        </p:spPr>
        <p:txBody>
          <a:bodyPr wrap="none" lIns="0" rIns="0" tIns="0" bIns="0">
            <a:spAutoFit/>
          </a:bodyPr>
          <a:lstStyle/>
          <a:p>
            <a:pPr>
              <a:lnSpc>
                <a:spcPts val="3300"/>
              </a:lnSpc>
              <a:spcAft>
                <a:spcPts val="0"/>
              </a:spcAft>
              <a:defRPr b="0" sz="2600">
                <a:solidFill>
                  <a:srgbClr val="1C1917"/>
                </a:solidFill>
                <a:latin typeface="Bodoni Moda"/>
              </a:defRPr>
            </a:pPr>
            <a:r>
              <a:t>Digital Marketing &amp;</a:t>
            </a:r>
          </a:p>
          <a:p>
            <a:pPr>
              <a:lnSpc>
                <a:spcPts val="3300"/>
              </a:lnSpc>
              <a:spcAft>
                <a:spcPts val="0"/>
              </a:spcAft>
              <a:defRPr b="0" sz="2600">
                <a:solidFill>
                  <a:srgbClr val="1C1917"/>
                </a:solidFill>
                <a:latin typeface="Bodoni Moda"/>
              </a:defRPr>
            </a:pPr>
            <a:r>
              <a:t>Creative Specialist</a:t>
            </a:r>
          </a:p>
        </p:txBody>
      </p:sp>
      <p:sp>
        <p:nvSpPr>
          <p:cNvPr id="11" name="TextBox 10"/>
          <p:cNvSpPr txBox="1"/>
          <p:nvPr/>
        </p:nvSpPr>
        <p:spPr>
          <a:xfrm>
            <a:off x="533400" y="6261100"/>
            <a:ext cx="6032500" cy="279400"/>
          </a:xfrm>
          <a:prstGeom prst="rect">
            <a:avLst/>
          </a:prstGeom>
          <a:noFill/>
        </p:spPr>
        <p:txBody>
          <a:bodyPr wrap="none" lIns="0" rIns="0" tIns="0" bIns="0">
            <a:spAutoFit/>
          </a:bodyPr>
          <a:lstStyle/>
          <a:p>
            <a:pPr>
              <a:lnSpc>
                <a:spcPts val="1700"/>
              </a:lnSpc>
              <a:spcAft>
                <a:spcPts val="0"/>
              </a:spcAft>
              <a:defRPr b="1" sz="1100">
                <a:solidFill>
                  <a:srgbClr val="1C1917"/>
                </a:solidFill>
                <a:latin typeface="DM Sans 9pt"/>
              </a:defRPr>
            </a:pPr>
            <a:r>
              <a:t>Marketing / Strategy / Creative Direction / Digital Content</a:t>
            </a:r>
          </a:p>
        </p:txBody>
      </p:sp>
      <p:sp>
        <p:nvSpPr>
          <p:cNvPr id="12" name="TextBox 11"/>
          <p:cNvSpPr txBox="1"/>
          <p:nvPr/>
        </p:nvSpPr>
        <p:spPr>
          <a:xfrm>
            <a:off x="533400" y="8204200"/>
            <a:ext cx="5080000" cy="647700"/>
          </a:xfrm>
          <a:prstGeom prst="rect">
            <a:avLst/>
          </a:prstGeom>
          <a:noFill/>
        </p:spPr>
        <p:txBody>
          <a:bodyPr wrap="none" lIns="0" rIns="0" tIns="0" bIns="0">
            <a:spAutoFit/>
          </a:bodyPr>
          <a:lstStyle/>
          <a:p>
            <a:pPr>
              <a:lnSpc>
                <a:spcPts val="2300"/>
              </a:lnSpc>
              <a:spcAft>
                <a:spcPts val="0"/>
              </a:spcAft>
              <a:defRPr b="0" sz="1500">
                <a:solidFill>
                  <a:srgbClr val="1C1917"/>
                </a:solidFill>
                <a:latin typeface="Bodoni Moda"/>
              </a:defRPr>
            </a:pPr>
            <a:r>
              <a:t>Selected projects, independent ideas,</a:t>
            </a:r>
          </a:p>
          <a:p>
            <a:pPr>
              <a:lnSpc>
                <a:spcPts val="2300"/>
              </a:lnSpc>
              <a:spcAft>
                <a:spcPts val="0"/>
              </a:spcAft>
              <a:defRPr b="0" sz="1500">
                <a:solidFill>
                  <a:srgbClr val="1C1917"/>
                </a:solidFill>
                <a:latin typeface="Bodoni Moda"/>
              </a:defRPr>
            </a:pPr>
            <a:r>
              <a:t>and professional experience.</a:t>
            </a:r>
          </a:p>
        </p:txBody>
      </p:sp>
      <p:sp>
        <p:nvSpPr>
          <p:cNvPr id="13" name="TextBox 12"/>
          <p:cNvSpPr txBox="1"/>
          <p:nvPr/>
        </p:nvSpPr>
        <p:spPr>
          <a:xfrm>
            <a:off x="533400" y="9207500"/>
            <a:ext cx="3086100" cy="254000"/>
          </a:xfrm>
          <a:prstGeom prst="rect">
            <a:avLst/>
          </a:prstGeom>
          <a:noFill/>
        </p:spPr>
        <p:txBody>
          <a:bodyPr wrap="none" lIns="0" rIns="0" tIns="0" bIns="0">
            <a:spAutoFit/>
          </a:bodyPr>
          <a:lstStyle/>
          <a:p>
            <a:pPr>
              <a:lnSpc>
                <a:spcPts val="1500"/>
              </a:lnSpc>
              <a:spcAft>
                <a:spcPts val="0"/>
              </a:spcAft>
              <a:defRPr b="1" sz="1000">
                <a:solidFill>
                  <a:srgbClr val="1C1917"/>
                </a:solidFill>
                <a:latin typeface="DM Sans 9pt"/>
              </a:defRPr>
            </a:pPr>
            <a:r>
              <a:rPr>
                <a:hlinkClick r:id="rId2"/>
              </a:rPr>
              <a:t>View the online portfolio</a:t>
            </a:r>
          </a:p>
        </p:txBody>
      </p:sp>
      <p:sp>
        <p:nvSpPr>
          <p:cNvPr id="14" name="Rectangle 13"/>
          <p:cNvSpPr/>
          <p:nvPr/>
        </p:nvSpPr>
        <p:spPr>
          <a:xfrm>
            <a:off x="533400" y="9423400"/>
            <a:ext cx="1437005"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3400" y="355600"/>
            <a:ext cx="44450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SARAH SAFWAN / PORTFOLIO 2026</a:t>
            </a:r>
          </a:p>
        </p:txBody>
      </p:sp>
      <p:sp>
        <p:nvSpPr>
          <p:cNvPr id="3" name="TextBox 2"/>
          <p:cNvSpPr txBox="1"/>
          <p:nvPr/>
        </p:nvSpPr>
        <p:spPr>
          <a:xfrm>
            <a:off x="5207000" y="355600"/>
            <a:ext cx="1816100" cy="203200"/>
          </a:xfrm>
          <a:prstGeom prst="rect">
            <a:avLst/>
          </a:prstGeom>
          <a:noFill/>
        </p:spPr>
        <p:txBody>
          <a:bodyPr wrap="none" lIns="0" rIns="0" tIns="0" bIns="0">
            <a:spAutoFit/>
          </a:bodyPr>
          <a:lstStyle/>
          <a:p>
            <a:pPr>
              <a:lnSpc>
                <a:spcPts val="1100"/>
              </a:lnSpc>
              <a:spcAft>
                <a:spcPts val="0"/>
              </a:spcAft>
              <a:defRPr b="1" sz="740">
                <a:solidFill>
                  <a:srgbClr val="57534E"/>
                </a:solidFill>
                <a:latin typeface="DM Sans 9pt"/>
              </a:defRPr>
            </a:pPr>
            <a:r>
              <a:t>INTRODUCTION</a:t>
            </a:r>
          </a:p>
        </p:txBody>
      </p:sp>
      <p:sp>
        <p:nvSpPr>
          <p:cNvPr id="4" name="Rectangle 3"/>
          <p:cNvSpPr/>
          <p:nvPr/>
        </p:nvSpPr>
        <p:spPr>
          <a:xfrm>
            <a:off x="533400" y="6604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33400" y="101346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10274300"/>
            <a:ext cx="6350000" cy="177800"/>
          </a:xfrm>
          <a:prstGeom prst="rect">
            <a:avLst/>
          </a:prstGeom>
          <a:noFill/>
        </p:spPr>
        <p:txBody>
          <a:bodyPr wrap="none" lIns="0" rIns="0" tIns="0" bIns="0">
            <a:spAutoFit/>
          </a:bodyPr>
          <a:lstStyle/>
          <a:p>
            <a:pPr>
              <a:defRPr sz="720">
                <a:latin typeface="DM Sans 9pt"/>
              </a:defRPr>
            </a:pPr>
            <a:r>
              <a:t>Sarah Safwan / Digital Marketing &amp; Creative Specialist                                                    02 / 17</a:t>
            </a:r>
          </a:p>
        </p:txBody>
      </p:sp>
      <p:sp>
        <p:nvSpPr>
          <p:cNvPr id="7" name="TextBox 6"/>
          <p:cNvSpPr txBox="1"/>
          <p:nvPr/>
        </p:nvSpPr>
        <p:spPr>
          <a:xfrm>
            <a:off x="533400" y="1104900"/>
            <a:ext cx="6489700" cy="571500"/>
          </a:xfrm>
          <a:prstGeom prst="rect">
            <a:avLst/>
          </a:prstGeom>
          <a:noFill/>
        </p:spPr>
        <p:txBody>
          <a:bodyPr wrap="none" lIns="0" rIns="0" tIns="0" bIns="0">
            <a:spAutoFit/>
          </a:bodyPr>
          <a:lstStyle/>
          <a:p>
            <a:pPr>
              <a:lnSpc>
                <a:spcPts val="4000"/>
              </a:lnSpc>
              <a:spcAft>
                <a:spcPts val="0"/>
              </a:spcAft>
              <a:defRPr b="0" sz="3500">
                <a:solidFill>
                  <a:srgbClr val="1C1917"/>
                </a:solidFill>
                <a:latin typeface="Bodoni Moda"/>
              </a:defRPr>
            </a:pPr>
            <a:r>
              <a:t>About</a:t>
            </a:r>
          </a:p>
        </p:txBody>
      </p:sp>
      <p:sp>
        <p:nvSpPr>
          <p:cNvPr id="8" name="TextBox 7"/>
          <p:cNvSpPr txBox="1"/>
          <p:nvPr/>
        </p:nvSpPr>
        <p:spPr>
          <a:xfrm>
            <a:off x="533400" y="1778000"/>
            <a:ext cx="6489700" cy="1168400"/>
          </a:xfrm>
          <a:prstGeom prst="rect">
            <a:avLst/>
          </a:prstGeom>
          <a:noFill/>
        </p:spPr>
        <p:txBody>
          <a:bodyPr wrap="none" lIns="0" rIns="0" tIns="0" bIns="0">
            <a:spAutoFit/>
          </a:bodyPr>
          <a:lstStyle/>
          <a:p>
            <a:pPr>
              <a:lnSpc>
                <a:spcPts val="2900"/>
              </a:lnSpc>
              <a:spcAft>
                <a:spcPts val="0"/>
              </a:spcAft>
              <a:defRPr b="0" sz="2200">
                <a:solidFill>
                  <a:srgbClr val="1C1917"/>
                </a:solidFill>
                <a:latin typeface="Bodoni Moda"/>
              </a:defRPr>
            </a:pPr>
            <a:r>
              <a:t>I'm interested in what makes people pay attention, what makes them stay, and why certain ideas stick with them.</a:t>
            </a:r>
          </a:p>
        </p:txBody>
      </p:sp>
      <p:pic>
        <p:nvPicPr>
          <p:cNvPr id="9" name="Picture 8" descr="sarah-safwan-portrait.jpg"/>
          <p:cNvPicPr>
            <a:picLocks noChangeAspect="1"/>
          </p:cNvPicPr>
          <p:nvPr/>
        </p:nvPicPr>
        <p:blipFill>
          <a:blip r:embed="rId2"/>
          <a:stretch>
            <a:fillRect/>
          </a:stretch>
        </p:blipFill>
        <p:spPr>
          <a:xfrm>
            <a:off x="533400" y="3276600"/>
            <a:ext cx="2413000" cy="2935969"/>
          </a:xfrm>
          <a:prstGeom prst="rect">
            <a:avLst/>
          </a:prstGeom>
        </p:spPr>
      </p:pic>
      <p:sp>
        <p:nvSpPr>
          <p:cNvPr id="10" name="TextBox 9"/>
          <p:cNvSpPr txBox="1"/>
          <p:nvPr/>
        </p:nvSpPr>
        <p:spPr>
          <a:xfrm>
            <a:off x="3263900" y="3276600"/>
            <a:ext cx="3759200" cy="1079500"/>
          </a:xfrm>
          <a:prstGeom prst="rect">
            <a:avLst/>
          </a:prstGeom>
          <a:noFill/>
        </p:spPr>
        <p:txBody>
          <a:bodyPr wrap="none" lIns="0" rIns="0" tIns="0" bIns="0">
            <a:spAutoFit/>
          </a:bodyPr>
          <a:lstStyle/>
          <a:p>
            <a:pPr>
              <a:lnSpc>
                <a:spcPts val="1600"/>
              </a:lnSpc>
              <a:spcAft>
                <a:spcPts val="0"/>
              </a:spcAft>
              <a:defRPr b="0" sz="1100">
                <a:solidFill>
                  <a:srgbClr val="1C1917"/>
                </a:solidFill>
                <a:latin typeface="DM Sans 9pt"/>
              </a:defRPr>
            </a:pPr>
            <a:r>
              <a:t>My work brings together marketing, research, writing, and creative production. I enjoy understanding how brands communicate, developing concepts, and figuring out how an idea can become something people actually want to engage with.</a:t>
            </a:r>
          </a:p>
        </p:txBody>
      </p:sp>
      <p:sp>
        <p:nvSpPr>
          <p:cNvPr id="11" name="TextBox 10"/>
          <p:cNvSpPr txBox="1"/>
          <p:nvPr/>
        </p:nvSpPr>
        <p:spPr>
          <a:xfrm>
            <a:off x="3263900" y="5143500"/>
            <a:ext cx="3759200" cy="1079500"/>
          </a:xfrm>
          <a:prstGeom prst="rect">
            <a:avLst/>
          </a:prstGeom>
          <a:noFill/>
        </p:spPr>
        <p:txBody>
          <a:bodyPr wrap="none" lIns="0" rIns="0" tIns="0" bIns="0">
            <a:spAutoFit/>
          </a:bodyPr>
          <a:lstStyle/>
          <a:p>
            <a:pPr>
              <a:lnSpc>
                <a:spcPts val="1600"/>
              </a:lnSpc>
              <a:spcAft>
                <a:spcPts val="0"/>
              </a:spcAft>
              <a:defRPr b="0" sz="1100">
                <a:solidFill>
                  <a:srgbClr val="1C1917"/>
                </a:solidFill>
                <a:latin typeface="DM Sans 9pt"/>
              </a:defRPr>
            </a:pPr>
            <a:r>
              <a:t>My experience spans fashion marketing, independent publishing, educational content, podcast production, and digital projects. I'm particularly interested in brand strategy, creative direction, and the thinking behind successful campaigns.</a:t>
            </a:r>
          </a:p>
        </p:txBody>
      </p:sp>
      <p:sp>
        <p:nvSpPr>
          <p:cNvPr id="12" name="Rectangle 11"/>
          <p:cNvSpPr/>
          <p:nvPr/>
        </p:nvSpPr>
        <p:spPr>
          <a:xfrm>
            <a:off x="533400" y="78740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3400" y="8153400"/>
            <a:ext cx="64770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INSIDE THIS PORTFOLIO</a:t>
            </a:r>
          </a:p>
        </p:txBody>
      </p:sp>
      <p:sp>
        <p:nvSpPr>
          <p:cNvPr id="14" name="TextBox 13"/>
          <p:cNvSpPr txBox="1"/>
          <p:nvPr/>
        </p:nvSpPr>
        <p:spPr>
          <a:xfrm>
            <a:off x="533400" y="8509000"/>
            <a:ext cx="2628900" cy="228600"/>
          </a:xfrm>
          <a:prstGeom prst="rect">
            <a:avLst/>
          </a:prstGeom>
          <a:noFill/>
        </p:spPr>
        <p:txBody>
          <a:bodyPr wrap="none" lIns="0" rIns="0" tIns="0" bIns="0">
            <a:spAutoFit/>
          </a:bodyPr>
          <a:lstStyle/>
          <a:p>
            <a:pPr>
              <a:lnSpc>
                <a:spcPts val="1300"/>
              </a:lnSpc>
              <a:spcAft>
                <a:spcPts val="0"/>
              </a:spcAft>
              <a:defRPr b="0" sz="819">
                <a:solidFill>
                  <a:srgbClr val="1C1917"/>
                </a:solidFill>
                <a:latin typeface="DM Sans 9pt"/>
              </a:defRPr>
            </a:pPr>
            <a:r>
              <a:t>Rhode / Independent strategy</a:t>
            </a:r>
          </a:p>
        </p:txBody>
      </p:sp>
      <p:sp>
        <p:nvSpPr>
          <p:cNvPr id="15" name="TextBox 14"/>
          <p:cNvSpPr txBox="1"/>
          <p:nvPr/>
        </p:nvSpPr>
        <p:spPr>
          <a:xfrm>
            <a:off x="3365500" y="8509000"/>
            <a:ext cx="381000" cy="228600"/>
          </a:xfrm>
          <a:prstGeom prst="rect">
            <a:avLst/>
          </a:prstGeom>
          <a:noFill/>
        </p:spPr>
        <p:txBody>
          <a:bodyPr wrap="none" lIns="0" rIns="0" tIns="0" bIns="0">
            <a:spAutoFit/>
          </a:bodyPr>
          <a:lstStyle/>
          <a:p>
            <a:pPr>
              <a:lnSpc>
                <a:spcPts val="1300"/>
              </a:lnSpc>
              <a:spcAft>
                <a:spcPts val="0"/>
              </a:spcAft>
              <a:defRPr b="1" sz="900">
                <a:solidFill>
                  <a:srgbClr val="1C1917"/>
                </a:solidFill>
                <a:latin typeface="DM Sans 9pt"/>
              </a:defRPr>
            </a:pPr>
            <a:r>
              <a:t>04–08</a:t>
            </a:r>
          </a:p>
        </p:txBody>
      </p:sp>
      <p:sp>
        <p:nvSpPr>
          <p:cNvPr id="16" name="TextBox 15"/>
          <p:cNvSpPr txBox="1"/>
          <p:nvPr/>
        </p:nvSpPr>
        <p:spPr>
          <a:xfrm>
            <a:off x="533400" y="8864600"/>
            <a:ext cx="2628900" cy="228600"/>
          </a:xfrm>
          <a:prstGeom prst="rect">
            <a:avLst/>
          </a:prstGeom>
          <a:noFill/>
        </p:spPr>
        <p:txBody>
          <a:bodyPr wrap="none" lIns="0" rIns="0" tIns="0" bIns="0">
            <a:spAutoFit/>
          </a:bodyPr>
          <a:lstStyle/>
          <a:p>
            <a:pPr>
              <a:lnSpc>
                <a:spcPts val="1300"/>
              </a:lnSpc>
              <a:spcAft>
                <a:spcPts val="0"/>
              </a:spcAft>
              <a:defRPr b="0" sz="819">
                <a:solidFill>
                  <a:srgbClr val="1C1917"/>
                </a:solidFill>
                <a:latin typeface="DM Sans 9pt"/>
              </a:defRPr>
            </a:pPr>
            <a:r>
              <a:t>DAXUEN / Fashion marketing</a:t>
            </a:r>
          </a:p>
        </p:txBody>
      </p:sp>
      <p:sp>
        <p:nvSpPr>
          <p:cNvPr id="17" name="TextBox 16"/>
          <p:cNvSpPr txBox="1"/>
          <p:nvPr/>
        </p:nvSpPr>
        <p:spPr>
          <a:xfrm>
            <a:off x="3365500" y="8864600"/>
            <a:ext cx="381000" cy="228600"/>
          </a:xfrm>
          <a:prstGeom prst="rect">
            <a:avLst/>
          </a:prstGeom>
          <a:noFill/>
        </p:spPr>
        <p:txBody>
          <a:bodyPr wrap="none" lIns="0" rIns="0" tIns="0" bIns="0">
            <a:spAutoFit/>
          </a:bodyPr>
          <a:lstStyle/>
          <a:p>
            <a:pPr>
              <a:lnSpc>
                <a:spcPts val="1300"/>
              </a:lnSpc>
              <a:spcAft>
                <a:spcPts val="0"/>
              </a:spcAft>
              <a:defRPr b="1" sz="900">
                <a:solidFill>
                  <a:srgbClr val="1C1917"/>
                </a:solidFill>
                <a:latin typeface="DM Sans 9pt"/>
              </a:defRPr>
            </a:pPr>
            <a:r>
              <a:t>09–10</a:t>
            </a:r>
          </a:p>
        </p:txBody>
      </p:sp>
      <p:sp>
        <p:nvSpPr>
          <p:cNvPr id="18" name="TextBox 17"/>
          <p:cNvSpPr txBox="1"/>
          <p:nvPr/>
        </p:nvSpPr>
        <p:spPr>
          <a:xfrm>
            <a:off x="533400" y="9220200"/>
            <a:ext cx="2628900" cy="228600"/>
          </a:xfrm>
          <a:prstGeom prst="rect">
            <a:avLst/>
          </a:prstGeom>
          <a:noFill/>
        </p:spPr>
        <p:txBody>
          <a:bodyPr wrap="none" lIns="0" rIns="0" tIns="0" bIns="0">
            <a:spAutoFit/>
          </a:bodyPr>
          <a:lstStyle/>
          <a:p>
            <a:pPr>
              <a:lnSpc>
                <a:spcPts val="1300"/>
              </a:lnSpc>
              <a:spcAft>
                <a:spcPts val="0"/>
              </a:spcAft>
              <a:defRPr b="0" sz="819">
                <a:solidFill>
                  <a:srgbClr val="1C1917"/>
                </a:solidFill>
                <a:latin typeface="DM Sans 9pt"/>
              </a:defRPr>
            </a:pPr>
            <a:r>
              <a:t>BellaBelles Egypt / Creative production</a:t>
            </a:r>
          </a:p>
        </p:txBody>
      </p:sp>
      <p:sp>
        <p:nvSpPr>
          <p:cNvPr id="19" name="TextBox 18"/>
          <p:cNvSpPr txBox="1"/>
          <p:nvPr/>
        </p:nvSpPr>
        <p:spPr>
          <a:xfrm>
            <a:off x="3365500" y="9220200"/>
            <a:ext cx="381000" cy="228600"/>
          </a:xfrm>
          <a:prstGeom prst="rect">
            <a:avLst/>
          </a:prstGeom>
          <a:noFill/>
        </p:spPr>
        <p:txBody>
          <a:bodyPr wrap="none" lIns="0" rIns="0" tIns="0" bIns="0">
            <a:spAutoFit/>
          </a:bodyPr>
          <a:lstStyle/>
          <a:p>
            <a:pPr>
              <a:lnSpc>
                <a:spcPts val="1300"/>
              </a:lnSpc>
              <a:spcAft>
                <a:spcPts val="0"/>
              </a:spcAft>
              <a:defRPr b="1" sz="900">
                <a:solidFill>
                  <a:srgbClr val="1C1917"/>
                </a:solidFill>
                <a:latin typeface="DM Sans 9pt"/>
              </a:defRPr>
            </a:pPr>
            <a:r>
              <a:t>11</a:t>
            </a:r>
          </a:p>
        </p:txBody>
      </p:sp>
      <p:sp>
        <p:nvSpPr>
          <p:cNvPr id="20" name="TextBox 19"/>
          <p:cNvSpPr txBox="1"/>
          <p:nvPr/>
        </p:nvSpPr>
        <p:spPr>
          <a:xfrm>
            <a:off x="3911600" y="8509000"/>
            <a:ext cx="2628900" cy="228600"/>
          </a:xfrm>
          <a:prstGeom prst="rect">
            <a:avLst/>
          </a:prstGeom>
          <a:noFill/>
        </p:spPr>
        <p:txBody>
          <a:bodyPr wrap="none" lIns="0" rIns="0" tIns="0" bIns="0">
            <a:spAutoFit/>
          </a:bodyPr>
          <a:lstStyle/>
          <a:p>
            <a:pPr>
              <a:lnSpc>
                <a:spcPts val="1300"/>
              </a:lnSpc>
              <a:spcAft>
                <a:spcPts val="0"/>
              </a:spcAft>
              <a:defRPr b="0" sz="819">
                <a:solidFill>
                  <a:srgbClr val="1C1917"/>
                </a:solidFill>
                <a:latin typeface="DM Sans 9pt"/>
              </a:defRPr>
            </a:pPr>
            <a:r>
              <a:t>Thy Academia / Educational publishing</a:t>
            </a:r>
          </a:p>
        </p:txBody>
      </p:sp>
      <p:sp>
        <p:nvSpPr>
          <p:cNvPr id="21" name="TextBox 20"/>
          <p:cNvSpPr txBox="1"/>
          <p:nvPr/>
        </p:nvSpPr>
        <p:spPr>
          <a:xfrm>
            <a:off x="6743700" y="8509000"/>
            <a:ext cx="381000" cy="228600"/>
          </a:xfrm>
          <a:prstGeom prst="rect">
            <a:avLst/>
          </a:prstGeom>
          <a:noFill/>
        </p:spPr>
        <p:txBody>
          <a:bodyPr wrap="none" lIns="0" rIns="0" tIns="0" bIns="0">
            <a:spAutoFit/>
          </a:bodyPr>
          <a:lstStyle/>
          <a:p>
            <a:pPr>
              <a:lnSpc>
                <a:spcPts val="1300"/>
              </a:lnSpc>
              <a:spcAft>
                <a:spcPts val="0"/>
              </a:spcAft>
              <a:defRPr b="1" sz="900">
                <a:solidFill>
                  <a:srgbClr val="1C1917"/>
                </a:solidFill>
                <a:latin typeface="DM Sans 9pt"/>
              </a:defRPr>
            </a:pPr>
            <a:r>
              <a:t>12–13</a:t>
            </a:r>
          </a:p>
        </p:txBody>
      </p:sp>
      <p:sp>
        <p:nvSpPr>
          <p:cNvPr id="22" name="TextBox 21"/>
          <p:cNvSpPr txBox="1"/>
          <p:nvPr/>
        </p:nvSpPr>
        <p:spPr>
          <a:xfrm>
            <a:off x="3911600" y="8864600"/>
            <a:ext cx="2628900" cy="228600"/>
          </a:xfrm>
          <a:prstGeom prst="rect">
            <a:avLst/>
          </a:prstGeom>
          <a:noFill/>
        </p:spPr>
        <p:txBody>
          <a:bodyPr wrap="none" lIns="0" rIns="0" tIns="0" bIns="0">
            <a:spAutoFit/>
          </a:bodyPr>
          <a:lstStyle/>
          <a:p>
            <a:pPr>
              <a:lnSpc>
                <a:spcPts val="1300"/>
              </a:lnSpc>
              <a:spcAft>
                <a:spcPts val="0"/>
              </a:spcAft>
              <a:defRPr b="0" sz="819">
                <a:solidFill>
                  <a:srgbClr val="1C1917"/>
                </a:solidFill>
                <a:latin typeface="DM Sans 9pt"/>
              </a:defRPr>
            </a:pPr>
            <a:r>
              <a:t>The Sae Talk / Audio production</a:t>
            </a:r>
          </a:p>
        </p:txBody>
      </p:sp>
      <p:sp>
        <p:nvSpPr>
          <p:cNvPr id="23" name="TextBox 22"/>
          <p:cNvSpPr txBox="1"/>
          <p:nvPr/>
        </p:nvSpPr>
        <p:spPr>
          <a:xfrm>
            <a:off x="6743700" y="8864600"/>
            <a:ext cx="381000" cy="228600"/>
          </a:xfrm>
          <a:prstGeom prst="rect">
            <a:avLst/>
          </a:prstGeom>
          <a:noFill/>
        </p:spPr>
        <p:txBody>
          <a:bodyPr wrap="none" lIns="0" rIns="0" tIns="0" bIns="0">
            <a:spAutoFit/>
          </a:bodyPr>
          <a:lstStyle/>
          <a:p>
            <a:pPr>
              <a:lnSpc>
                <a:spcPts val="1300"/>
              </a:lnSpc>
              <a:spcAft>
                <a:spcPts val="0"/>
              </a:spcAft>
              <a:defRPr b="1" sz="900">
                <a:solidFill>
                  <a:srgbClr val="1C1917"/>
                </a:solidFill>
                <a:latin typeface="DM Sans 9pt"/>
              </a:defRPr>
            </a:pPr>
            <a:r>
              <a:t>14</a:t>
            </a:r>
          </a:p>
        </p:txBody>
      </p:sp>
      <p:sp>
        <p:nvSpPr>
          <p:cNvPr id="24" name="TextBox 23"/>
          <p:cNvSpPr txBox="1"/>
          <p:nvPr/>
        </p:nvSpPr>
        <p:spPr>
          <a:xfrm>
            <a:off x="3911600" y="9220200"/>
            <a:ext cx="2628900" cy="228600"/>
          </a:xfrm>
          <a:prstGeom prst="rect">
            <a:avLst/>
          </a:prstGeom>
          <a:noFill/>
        </p:spPr>
        <p:txBody>
          <a:bodyPr wrap="none" lIns="0" rIns="0" tIns="0" bIns="0">
            <a:spAutoFit/>
          </a:bodyPr>
          <a:lstStyle/>
          <a:p>
            <a:pPr>
              <a:lnSpc>
                <a:spcPts val="1300"/>
              </a:lnSpc>
              <a:spcAft>
                <a:spcPts val="0"/>
              </a:spcAft>
              <a:defRPr b="0" sz="819">
                <a:solidFill>
                  <a:srgbClr val="1C1917"/>
                </a:solidFill>
                <a:latin typeface="DM Sans 9pt"/>
              </a:defRPr>
            </a:pPr>
            <a:r>
              <a:t>Sarah Safwan / Editorial writing</a:t>
            </a:r>
          </a:p>
        </p:txBody>
      </p:sp>
      <p:sp>
        <p:nvSpPr>
          <p:cNvPr id="25" name="TextBox 24"/>
          <p:cNvSpPr txBox="1"/>
          <p:nvPr/>
        </p:nvSpPr>
        <p:spPr>
          <a:xfrm>
            <a:off x="6743700" y="9220200"/>
            <a:ext cx="381000" cy="228600"/>
          </a:xfrm>
          <a:prstGeom prst="rect">
            <a:avLst/>
          </a:prstGeom>
          <a:noFill/>
        </p:spPr>
        <p:txBody>
          <a:bodyPr wrap="none" lIns="0" rIns="0" tIns="0" bIns="0">
            <a:spAutoFit/>
          </a:bodyPr>
          <a:lstStyle/>
          <a:p>
            <a:pPr>
              <a:lnSpc>
                <a:spcPts val="1300"/>
              </a:lnSpc>
              <a:spcAft>
                <a:spcPts val="0"/>
              </a:spcAft>
              <a:defRPr b="1" sz="900">
                <a:solidFill>
                  <a:srgbClr val="1C1917"/>
                </a:solidFill>
                <a:latin typeface="DM Sans 9pt"/>
              </a:defRPr>
            </a:pPr>
            <a:r>
              <a:t>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3400" y="355600"/>
            <a:ext cx="44450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SARAH SAFWAN / PORTFOLIO 2026</a:t>
            </a:r>
          </a:p>
        </p:txBody>
      </p:sp>
      <p:sp>
        <p:nvSpPr>
          <p:cNvPr id="3" name="TextBox 2"/>
          <p:cNvSpPr txBox="1"/>
          <p:nvPr/>
        </p:nvSpPr>
        <p:spPr>
          <a:xfrm>
            <a:off x="5207000" y="355600"/>
            <a:ext cx="1816100" cy="203200"/>
          </a:xfrm>
          <a:prstGeom prst="rect">
            <a:avLst/>
          </a:prstGeom>
          <a:noFill/>
        </p:spPr>
        <p:txBody>
          <a:bodyPr wrap="none" lIns="0" rIns="0" tIns="0" bIns="0">
            <a:spAutoFit/>
          </a:bodyPr>
          <a:lstStyle/>
          <a:p>
            <a:pPr>
              <a:lnSpc>
                <a:spcPts val="1100"/>
              </a:lnSpc>
              <a:spcAft>
                <a:spcPts val="0"/>
              </a:spcAft>
              <a:defRPr b="1" sz="740">
                <a:solidFill>
                  <a:srgbClr val="57534E"/>
                </a:solidFill>
                <a:latin typeface="DM Sans 9pt"/>
              </a:defRPr>
            </a:pPr>
            <a:r>
              <a:t>CAPABILITIES</a:t>
            </a:r>
          </a:p>
        </p:txBody>
      </p:sp>
      <p:sp>
        <p:nvSpPr>
          <p:cNvPr id="4" name="Rectangle 3"/>
          <p:cNvSpPr/>
          <p:nvPr/>
        </p:nvSpPr>
        <p:spPr>
          <a:xfrm>
            <a:off x="533400" y="6604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33400" y="101346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10274300"/>
            <a:ext cx="6350000" cy="177800"/>
          </a:xfrm>
          <a:prstGeom prst="rect">
            <a:avLst/>
          </a:prstGeom>
          <a:noFill/>
        </p:spPr>
        <p:txBody>
          <a:bodyPr wrap="none" lIns="0" rIns="0" tIns="0" bIns="0">
            <a:spAutoFit/>
          </a:bodyPr>
          <a:lstStyle/>
          <a:p>
            <a:pPr>
              <a:defRPr sz="720">
                <a:latin typeface="DM Sans 9pt"/>
              </a:defRPr>
            </a:pPr>
            <a:r>
              <a:t>Sarah Safwan / Digital Marketing &amp; Creative Specialist                                                    03 / 17</a:t>
            </a:r>
          </a:p>
        </p:txBody>
      </p:sp>
      <p:sp>
        <p:nvSpPr>
          <p:cNvPr id="7" name="TextBox 6"/>
          <p:cNvSpPr txBox="1"/>
          <p:nvPr/>
        </p:nvSpPr>
        <p:spPr>
          <a:xfrm>
            <a:off x="533400" y="1104900"/>
            <a:ext cx="6489700" cy="571500"/>
          </a:xfrm>
          <a:prstGeom prst="rect">
            <a:avLst/>
          </a:prstGeom>
          <a:noFill/>
        </p:spPr>
        <p:txBody>
          <a:bodyPr wrap="none" lIns="0" rIns="0" tIns="0" bIns="0">
            <a:spAutoFit/>
          </a:bodyPr>
          <a:lstStyle/>
          <a:p>
            <a:pPr>
              <a:lnSpc>
                <a:spcPts val="4000"/>
              </a:lnSpc>
              <a:spcAft>
                <a:spcPts val="0"/>
              </a:spcAft>
              <a:defRPr b="0" sz="3500">
                <a:solidFill>
                  <a:srgbClr val="1C1917"/>
                </a:solidFill>
                <a:latin typeface="Bodoni Moda"/>
              </a:defRPr>
            </a:pPr>
            <a:r>
              <a:t>Expertise</a:t>
            </a:r>
          </a:p>
        </p:txBody>
      </p:sp>
      <p:sp>
        <p:nvSpPr>
          <p:cNvPr id="8" name="TextBox 7"/>
          <p:cNvSpPr txBox="1"/>
          <p:nvPr/>
        </p:nvSpPr>
        <p:spPr>
          <a:xfrm>
            <a:off x="533400" y="1778000"/>
            <a:ext cx="6489700" cy="254000"/>
          </a:xfrm>
          <a:prstGeom prst="rect">
            <a:avLst/>
          </a:prstGeom>
          <a:noFill/>
        </p:spPr>
        <p:txBody>
          <a:bodyPr wrap="none" lIns="0" rIns="0" tIns="0" bIns="0">
            <a:spAutoFit/>
          </a:bodyPr>
          <a:lstStyle/>
          <a:p>
            <a:pPr>
              <a:lnSpc>
                <a:spcPts val="1500"/>
              </a:lnSpc>
              <a:spcAft>
                <a:spcPts val="0"/>
              </a:spcAft>
              <a:defRPr b="1" sz="1000">
                <a:solidFill>
                  <a:srgbClr val="57534E"/>
                </a:solidFill>
                <a:latin typeface="DM Sans 9pt"/>
              </a:defRPr>
            </a:pPr>
            <a:r>
              <a:t>Working areas across marketing, production, and digital publishing</a:t>
            </a:r>
          </a:p>
        </p:txBody>
      </p:sp>
      <p:sp>
        <p:nvSpPr>
          <p:cNvPr id="9" name="Rectangle 8"/>
          <p:cNvSpPr/>
          <p:nvPr/>
        </p:nvSpPr>
        <p:spPr>
          <a:xfrm>
            <a:off x="533400" y="22479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3400" y="2501900"/>
            <a:ext cx="2286000" cy="749300"/>
          </a:xfrm>
          <a:prstGeom prst="rect">
            <a:avLst/>
          </a:prstGeom>
          <a:noFill/>
        </p:spPr>
        <p:txBody>
          <a:bodyPr wrap="none" lIns="0" rIns="0" tIns="0" bIns="0">
            <a:spAutoFit/>
          </a:bodyPr>
          <a:lstStyle/>
          <a:p>
            <a:pPr>
              <a:lnSpc>
                <a:spcPts val="2700"/>
              </a:lnSpc>
              <a:spcAft>
                <a:spcPts val="0"/>
              </a:spcAft>
              <a:defRPr b="0" sz="2100">
                <a:solidFill>
                  <a:srgbClr val="1C1917"/>
                </a:solidFill>
                <a:latin typeface="Bodoni Moda"/>
              </a:defRPr>
            </a:pPr>
            <a:r>
              <a:t>Marketing &amp; Strategy</a:t>
            </a:r>
          </a:p>
        </p:txBody>
      </p:sp>
      <p:sp>
        <p:nvSpPr>
          <p:cNvPr id="11" name="TextBox 10"/>
          <p:cNvSpPr txBox="1"/>
          <p:nvPr/>
        </p:nvSpPr>
        <p:spPr>
          <a:xfrm>
            <a:off x="3149600" y="2476500"/>
            <a:ext cx="3873500" cy="1358900"/>
          </a:xfrm>
          <a:prstGeom prst="rect">
            <a:avLst/>
          </a:prstGeom>
          <a:noFill/>
        </p:spPr>
        <p:txBody>
          <a:bodyPr wrap="none" lIns="0" rIns="0" tIns="0" bIns="0">
            <a:spAutoFit/>
          </a:bodyPr>
          <a:lstStyle/>
          <a:p>
            <a:pPr>
              <a:lnSpc>
                <a:spcPts val="1700"/>
              </a:lnSpc>
              <a:spcAft>
                <a:spcPts val="0"/>
              </a:spcAft>
              <a:defRPr b="1" sz="1100">
                <a:solidFill>
                  <a:srgbClr val="1C1917"/>
                </a:solidFill>
                <a:latin typeface="DM Sans 9pt"/>
              </a:defRPr>
            </a:pPr>
            <a:r>
              <a:t>Content Strategy</a:t>
            </a:r>
          </a:p>
          <a:p>
            <a:pPr>
              <a:lnSpc>
                <a:spcPts val="1700"/>
              </a:lnSpc>
              <a:spcAft>
                <a:spcPts val="0"/>
              </a:spcAft>
              <a:defRPr b="1" sz="1100">
                <a:solidFill>
                  <a:srgbClr val="1C1917"/>
                </a:solidFill>
                <a:latin typeface="DM Sans 9pt"/>
              </a:defRPr>
            </a:pPr>
            <a:r>
              <a:t>Social Media Marketing</a:t>
            </a:r>
          </a:p>
          <a:p>
            <a:pPr>
              <a:lnSpc>
                <a:spcPts val="1700"/>
              </a:lnSpc>
              <a:spcAft>
                <a:spcPts val="0"/>
              </a:spcAft>
              <a:defRPr b="1" sz="1100">
                <a:solidFill>
                  <a:srgbClr val="1C1917"/>
                </a:solidFill>
                <a:latin typeface="DM Sans 9pt"/>
              </a:defRPr>
            </a:pPr>
            <a:r>
              <a:t>Campaign Ideation</a:t>
            </a:r>
          </a:p>
          <a:p>
            <a:pPr>
              <a:lnSpc>
                <a:spcPts val="1700"/>
              </a:lnSpc>
              <a:spcAft>
                <a:spcPts val="0"/>
              </a:spcAft>
              <a:defRPr b="1" sz="1100">
                <a:solidFill>
                  <a:srgbClr val="1C1917"/>
                </a:solidFill>
                <a:latin typeface="DM Sans 9pt"/>
              </a:defRPr>
            </a:pPr>
            <a:r>
              <a:t>Marketing Research</a:t>
            </a:r>
          </a:p>
          <a:p>
            <a:pPr>
              <a:lnSpc>
                <a:spcPts val="1700"/>
              </a:lnSpc>
              <a:spcAft>
                <a:spcPts val="0"/>
              </a:spcAft>
              <a:defRPr b="1" sz="1100">
                <a:solidFill>
                  <a:srgbClr val="1C1917"/>
                </a:solidFill>
                <a:latin typeface="DM Sans 9pt"/>
              </a:defRPr>
            </a:pPr>
            <a:r>
              <a:t>Competitor Analysis</a:t>
            </a:r>
          </a:p>
          <a:p>
            <a:pPr>
              <a:lnSpc>
                <a:spcPts val="1700"/>
              </a:lnSpc>
              <a:spcAft>
                <a:spcPts val="0"/>
              </a:spcAft>
              <a:defRPr b="1" sz="1100">
                <a:solidFill>
                  <a:srgbClr val="1C1917"/>
                </a:solidFill>
                <a:latin typeface="DM Sans 9pt"/>
              </a:defRPr>
            </a:pPr>
            <a:r>
              <a:t>Content Planning</a:t>
            </a:r>
          </a:p>
        </p:txBody>
      </p:sp>
      <p:sp>
        <p:nvSpPr>
          <p:cNvPr id="12" name="TextBox 11"/>
          <p:cNvSpPr txBox="1"/>
          <p:nvPr/>
        </p:nvSpPr>
        <p:spPr>
          <a:xfrm>
            <a:off x="533400" y="3365500"/>
            <a:ext cx="2286000" cy="774700"/>
          </a:xfrm>
          <a:prstGeom prst="rect">
            <a:avLst/>
          </a:prstGeom>
          <a:noFill/>
        </p:spPr>
        <p:txBody>
          <a:bodyPr wrap="none" lIns="0" rIns="0" tIns="0" bIns="0">
            <a:spAutoFit/>
          </a:bodyPr>
          <a:lstStyle/>
          <a:p>
            <a:pPr>
              <a:lnSpc>
                <a:spcPts val="1400"/>
              </a:lnSpc>
              <a:spcAft>
                <a:spcPts val="0"/>
              </a:spcAft>
              <a:defRPr b="0" sz="940">
                <a:solidFill>
                  <a:srgbClr val="1C1917"/>
                </a:solidFill>
                <a:latin typeface="DM Sans 9pt"/>
              </a:defRPr>
            </a:pPr>
            <a:r>
              <a:t>I use research and planning to understand a brief, develop content ideas, and consider how a brand communicates with its audience.</a:t>
            </a:r>
          </a:p>
        </p:txBody>
      </p:sp>
      <p:sp>
        <p:nvSpPr>
          <p:cNvPr id="13" name="Rectangle 12"/>
          <p:cNvSpPr/>
          <p:nvPr/>
        </p:nvSpPr>
        <p:spPr>
          <a:xfrm>
            <a:off x="533400" y="46609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3400" y="4914900"/>
            <a:ext cx="2286000" cy="749300"/>
          </a:xfrm>
          <a:prstGeom prst="rect">
            <a:avLst/>
          </a:prstGeom>
          <a:noFill/>
        </p:spPr>
        <p:txBody>
          <a:bodyPr wrap="none" lIns="0" rIns="0" tIns="0" bIns="0">
            <a:spAutoFit/>
          </a:bodyPr>
          <a:lstStyle/>
          <a:p>
            <a:pPr>
              <a:lnSpc>
                <a:spcPts val="2700"/>
              </a:lnSpc>
              <a:spcAft>
                <a:spcPts val="0"/>
              </a:spcAft>
              <a:defRPr b="0" sz="2100">
                <a:solidFill>
                  <a:srgbClr val="1C1917"/>
                </a:solidFill>
                <a:latin typeface="Bodoni Moda"/>
              </a:defRPr>
            </a:pPr>
            <a:r>
              <a:t>Creative Production</a:t>
            </a:r>
          </a:p>
        </p:txBody>
      </p:sp>
      <p:sp>
        <p:nvSpPr>
          <p:cNvPr id="15" name="TextBox 14"/>
          <p:cNvSpPr txBox="1"/>
          <p:nvPr/>
        </p:nvSpPr>
        <p:spPr>
          <a:xfrm>
            <a:off x="3149600" y="4889500"/>
            <a:ext cx="3873500" cy="1358900"/>
          </a:xfrm>
          <a:prstGeom prst="rect">
            <a:avLst/>
          </a:prstGeom>
          <a:noFill/>
        </p:spPr>
        <p:txBody>
          <a:bodyPr wrap="none" lIns="0" rIns="0" tIns="0" bIns="0">
            <a:spAutoFit/>
          </a:bodyPr>
          <a:lstStyle/>
          <a:p>
            <a:pPr>
              <a:lnSpc>
                <a:spcPts val="1700"/>
              </a:lnSpc>
              <a:spcAft>
                <a:spcPts val="0"/>
              </a:spcAft>
              <a:defRPr b="1" sz="1100">
                <a:solidFill>
                  <a:srgbClr val="1C1917"/>
                </a:solidFill>
                <a:latin typeface="DM Sans 9pt"/>
              </a:defRPr>
            </a:pPr>
            <a:r>
              <a:t>Creative Direction</a:t>
            </a:r>
          </a:p>
          <a:p>
            <a:pPr>
              <a:lnSpc>
                <a:spcPts val="1700"/>
              </a:lnSpc>
              <a:spcAft>
                <a:spcPts val="0"/>
              </a:spcAft>
              <a:defRPr b="1" sz="1100">
                <a:solidFill>
                  <a:srgbClr val="1C1917"/>
                </a:solidFill>
                <a:latin typeface="DM Sans 9pt"/>
              </a:defRPr>
            </a:pPr>
            <a:r>
              <a:t>Visual Content Development</a:t>
            </a:r>
          </a:p>
          <a:p>
            <a:pPr>
              <a:lnSpc>
                <a:spcPts val="1700"/>
              </a:lnSpc>
              <a:spcAft>
                <a:spcPts val="0"/>
              </a:spcAft>
              <a:defRPr b="1" sz="1100">
                <a:solidFill>
                  <a:srgbClr val="1C1917"/>
                </a:solidFill>
                <a:latin typeface="DM Sans 9pt"/>
              </a:defRPr>
            </a:pPr>
            <a:r>
              <a:t>Short-form Video Editing</a:t>
            </a:r>
          </a:p>
          <a:p>
            <a:pPr>
              <a:lnSpc>
                <a:spcPts val="1700"/>
              </a:lnSpc>
              <a:spcAft>
                <a:spcPts val="0"/>
              </a:spcAft>
              <a:defRPr b="1" sz="1100">
                <a:solidFill>
                  <a:srgbClr val="1C1917"/>
                </a:solidFill>
                <a:latin typeface="DM Sans 9pt"/>
              </a:defRPr>
            </a:pPr>
            <a:r>
              <a:t>Copywriting</a:t>
            </a:r>
          </a:p>
          <a:p>
            <a:pPr>
              <a:lnSpc>
                <a:spcPts val="1700"/>
              </a:lnSpc>
              <a:spcAft>
                <a:spcPts val="0"/>
              </a:spcAft>
              <a:defRPr b="1" sz="1100">
                <a:solidFill>
                  <a:srgbClr val="1C1917"/>
                </a:solidFill>
                <a:latin typeface="DM Sans 9pt"/>
              </a:defRPr>
            </a:pPr>
            <a:r>
              <a:t>Editorial Writing</a:t>
            </a:r>
          </a:p>
          <a:p>
            <a:pPr>
              <a:lnSpc>
                <a:spcPts val="1700"/>
              </a:lnSpc>
              <a:spcAft>
                <a:spcPts val="0"/>
              </a:spcAft>
              <a:defRPr b="1" sz="1100">
                <a:solidFill>
                  <a:srgbClr val="1C1917"/>
                </a:solidFill>
                <a:latin typeface="DM Sans 9pt"/>
              </a:defRPr>
            </a:pPr>
            <a:r>
              <a:t>AI-assisted Creative Production</a:t>
            </a:r>
          </a:p>
        </p:txBody>
      </p:sp>
      <p:sp>
        <p:nvSpPr>
          <p:cNvPr id="16" name="TextBox 15"/>
          <p:cNvSpPr txBox="1"/>
          <p:nvPr/>
        </p:nvSpPr>
        <p:spPr>
          <a:xfrm>
            <a:off x="533400" y="5778500"/>
            <a:ext cx="2286000" cy="596900"/>
          </a:xfrm>
          <a:prstGeom prst="rect">
            <a:avLst/>
          </a:prstGeom>
          <a:noFill/>
        </p:spPr>
        <p:txBody>
          <a:bodyPr wrap="none" lIns="0" rIns="0" tIns="0" bIns="0">
            <a:spAutoFit/>
          </a:bodyPr>
          <a:lstStyle/>
          <a:p>
            <a:pPr>
              <a:lnSpc>
                <a:spcPts val="1400"/>
              </a:lnSpc>
              <a:spcAft>
                <a:spcPts val="0"/>
              </a:spcAft>
              <a:defRPr b="0" sz="940">
                <a:solidFill>
                  <a:srgbClr val="1C1917"/>
                </a:solidFill>
                <a:latin typeface="DM Sans 9pt"/>
              </a:defRPr>
            </a:pPr>
            <a:r>
              <a:t>My work connects concepts with the writing and visual production needed to express them clearly.</a:t>
            </a:r>
          </a:p>
        </p:txBody>
      </p:sp>
      <p:sp>
        <p:nvSpPr>
          <p:cNvPr id="17" name="Rectangle 16"/>
          <p:cNvSpPr/>
          <p:nvPr/>
        </p:nvSpPr>
        <p:spPr>
          <a:xfrm>
            <a:off x="533400" y="70739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3400" y="7327900"/>
            <a:ext cx="2286000" cy="406400"/>
          </a:xfrm>
          <a:prstGeom prst="rect">
            <a:avLst/>
          </a:prstGeom>
          <a:noFill/>
        </p:spPr>
        <p:txBody>
          <a:bodyPr wrap="none" lIns="0" rIns="0" tIns="0" bIns="0">
            <a:spAutoFit/>
          </a:bodyPr>
          <a:lstStyle/>
          <a:p>
            <a:pPr>
              <a:lnSpc>
                <a:spcPts val="2700"/>
              </a:lnSpc>
              <a:spcAft>
                <a:spcPts val="0"/>
              </a:spcAft>
              <a:defRPr b="0" sz="2100">
                <a:solidFill>
                  <a:srgbClr val="1C1917"/>
                </a:solidFill>
                <a:latin typeface="Bodoni Moda"/>
              </a:defRPr>
            </a:pPr>
            <a:r>
              <a:t>Digital</a:t>
            </a:r>
          </a:p>
        </p:txBody>
      </p:sp>
      <p:sp>
        <p:nvSpPr>
          <p:cNvPr id="19" name="TextBox 18"/>
          <p:cNvSpPr txBox="1"/>
          <p:nvPr/>
        </p:nvSpPr>
        <p:spPr>
          <a:xfrm>
            <a:off x="3149600" y="7302500"/>
            <a:ext cx="3873500" cy="1143000"/>
          </a:xfrm>
          <a:prstGeom prst="rect">
            <a:avLst/>
          </a:prstGeom>
          <a:noFill/>
        </p:spPr>
        <p:txBody>
          <a:bodyPr wrap="none" lIns="0" rIns="0" tIns="0" bIns="0">
            <a:spAutoFit/>
          </a:bodyPr>
          <a:lstStyle/>
          <a:p>
            <a:pPr>
              <a:lnSpc>
                <a:spcPts val="1700"/>
              </a:lnSpc>
              <a:spcAft>
                <a:spcPts val="0"/>
              </a:spcAft>
              <a:defRPr b="1" sz="1100">
                <a:solidFill>
                  <a:srgbClr val="1C1917"/>
                </a:solidFill>
                <a:latin typeface="DM Sans 9pt"/>
              </a:defRPr>
            </a:pPr>
            <a:r>
              <a:t>Website Content</a:t>
            </a:r>
          </a:p>
          <a:p>
            <a:pPr>
              <a:lnSpc>
                <a:spcPts val="1700"/>
              </a:lnSpc>
              <a:spcAft>
                <a:spcPts val="0"/>
              </a:spcAft>
              <a:defRPr b="1" sz="1100">
                <a:solidFill>
                  <a:srgbClr val="1C1917"/>
                </a:solidFill>
                <a:latin typeface="DM Sans 9pt"/>
              </a:defRPr>
            </a:pPr>
            <a:r>
              <a:t>Website Design and Development</a:t>
            </a:r>
          </a:p>
          <a:p>
            <a:pPr>
              <a:lnSpc>
                <a:spcPts val="1700"/>
              </a:lnSpc>
              <a:spcAft>
                <a:spcPts val="0"/>
              </a:spcAft>
              <a:defRPr b="1" sz="1100">
                <a:solidFill>
                  <a:srgbClr val="1C1917"/>
                </a:solidFill>
                <a:latin typeface="DM Sans 9pt"/>
              </a:defRPr>
            </a:pPr>
            <a:r>
              <a:t>Digital Publishing</a:t>
            </a:r>
          </a:p>
          <a:p>
            <a:pPr>
              <a:lnSpc>
                <a:spcPts val="1700"/>
              </a:lnSpc>
              <a:spcAft>
                <a:spcPts val="0"/>
              </a:spcAft>
              <a:defRPr b="1" sz="1100">
                <a:solidFill>
                  <a:srgbClr val="1C1917"/>
                </a:solidFill>
                <a:latin typeface="DM Sans 9pt"/>
              </a:defRPr>
            </a:pPr>
            <a:r>
              <a:t>Basic HTML/CSS</a:t>
            </a:r>
          </a:p>
          <a:p>
            <a:pPr>
              <a:lnSpc>
                <a:spcPts val="1700"/>
              </a:lnSpc>
              <a:spcAft>
                <a:spcPts val="0"/>
              </a:spcAft>
              <a:defRPr b="1" sz="1100">
                <a:solidFill>
                  <a:srgbClr val="1C1917"/>
                </a:solidFill>
                <a:latin typeface="DM Sans 9pt"/>
              </a:defRPr>
            </a:pPr>
            <a:r>
              <a:t>Website Builders</a:t>
            </a:r>
          </a:p>
        </p:txBody>
      </p:sp>
      <p:sp>
        <p:nvSpPr>
          <p:cNvPr id="20" name="TextBox 19"/>
          <p:cNvSpPr txBox="1"/>
          <p:nvPr/>
        </p:nvSpPr>
        <p:spPr>
          <a:xfrm>
            <a:off x="533400" y="8191500"/>
            <a:ext cx="2286000" cy="596900"/>
          </a:xfrm>
          <a:prstGeom prst="rect">
            <a:avLst/>
          </a:prstGeom>
          <a:noFill/>
        </p:spPr>
        <p:txBody>
          <a:bodyPr wrap="none" lIns="0" rIns="0" tIns="0" bIns="0">
            <a:spAutoFit/>
          </a:bodyPr>
          <a:lstStyle/>
          <a:p>
            <a:pPr>
              <a:lnSpc>
                <a:spcPts val="1400"/>
              </a:lnSpc>
              <a:spcAft>
                <a:spcPts val="0"/>
              </a:spcAft>
              <a:defRPr b="0" sz="940">
                <a:solidFill>
                  <a:srgbClr val="1C1917"/>
                </a:solidFill>
                <a:latin typeface="DM Sans 9pt"/>
              </a:defRPr>
            </a:pPr>
            <a:r>
              <a:t>I work on the relationship between page structure, written content, and the way a digital project is presented.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3400" y="355600"/>
            <a:ext cx="44450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SARAH SAFWAN / PORTFOLIO 2026</a:t>
            </a:r>
          </a:p>
        </p:txBody>
      </p:sp>
      <p:sp>
        <p:nvSpPr>
          <p:cNvPr id="3" name="TextBox 2"/>
          <p:cNvSpPr txBox="1"/>
          <p:nvPr/>
        </p:nvSpPr>
        <p:spPr>
          <a:xfrm>
            <a:off x="5207000" y="355600"/>
            <a:ext cx="1816100" cy="203200"/>
          </a:xfrm>
          <a:prstGeom prst="rect">
            <a:avLst/>
          </a:prstGeom>
          <a:noFill/>
        </p:spPr>
        <p:txBody>
          <a:bodyPr wrap="none" lIns="0" rIns="0" tIns="0" bIns="0">
            <a:spAutoFit/>
          </a:bodyPr>
          <a:lstStyle/>
          <a:p>
            <a:pPr>
              <a:lnSpc>
                <a:spcPts val="1100"/>
              </a:lnSpc>
              <a:spcAft>
                <a:spcPts val="0"/>
              </a:spcAft>
              <a:defRPr b="1" sz="740">
                <a:solidFill>
                  <a:srgbClr val="57534E"/>
                </a:solidFill>
                <a:latin typeface="DM Sans 9pt"/>
              </a:defRPr>
            </a:pPr>
            <a:r>
              <a:t>INDEPENDENT CONCEPT</a:t>
            </a:r>
          </a:p>
        </p:txBody>
      </p:sp>
      <p:sp>
        <p:nvSpPr>
          <p:cNvPr id="4" name="Rectangle 3"/>
          <p:cNvSpPr/>
          <p:nvPr/>
        </p:nvSpPr>
        <p:spPr>
          <a:xfrm>
            <a:off x="533400" y="6604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33400" y="101346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10274300"/>
            <a:ext cx="6350000" cy="177800"/>
          </a:xfrm>
          <a:prstGeom prst="rect">
            <a:avLst/>
          </a:prstGeom>
          <a:noFill/>
        </p:spPr>
        <p:txBody>
          <a:bodyPr wrap="none" lIns="0" rIns="0" tIns="0" bIns="0">
            <a:spAutoFit/>
          </a:bodyPr>
          <a:lstStyle/>
          <a:p>
            <a:pPr>
              <a:defRPr sz="720">
                <a:latin typeface="DM Sans 9pt"/>
              </a:defRPr>
            </a:pPr>
            <a:r>
              <a:t>Sarah Safwan / Digital Marketing &amp; Creative Specialist                                                    04 / 17</a:t>
            </a:r>
          </a:p>
        </p:txBody>
      </p:sp>
      <p:sp>
        <p:nvSpPr>
          <p:cNvPr id="7" name="TextBox 6"/>
          <p:cNvSpPr txBox="1"/>
          <p:nvPr/>
        </p:nvSpPr>
        <p:spPr>
          <a:xfrm>
            <a:off x="533400" y="1104900"/>
            <a:ext cx="6489700" cy="1079500"/>
          </a:xfrm>
          <a:prstGeom prst="rect">
            <a:avLst/>
          </a:prstGeom>
          <a:noFill/>
        </p:spPr>
        <p:txBody>
          <a:bodyPr wrap="none" lIns="0" rIns="0" tIns="0" bIns="0">
            <a:spAutoFit/>
          </a:bodyPr>
          <a:lstStyle/>
          <a:p>
            <a:pPr>
              <a:lnSpc>
                <a:spcPts val="4000"/>
              </a:lnSpc>
              <a:spcAft>
                <a:spcPts val="0"/>
              </a:spcAft>
              <a:defRPr b="0" sz="3500">
                <a:solidFill>
                  <a:srgbClr val="1C1917"/>
                </a:solidFill>
                <a:latin typeface="Bodoni Moda"/>
              </a:defRPr>
            </a:pPr>
            <a:r>
              <a:t>Rhode: From Influence</a:t>
            </a:r>
          </a:p>
          <a:p>
            <a:pPr>
              <a:lnSpc>
                <a:spcPts val="4000"/>
              </a:lnSpc>
              <a:spcAft>
                <a:spcPts val="0"/>
              </a:spcAft>
              <a:defRPr b="0" sz="3500">
                <a:solidFill>
                  <a:srgbClr val="1C1917"/>
                </a:solidFill>
                <a:latin typeface="Bodoni Moda"/>
              </a:defRPr>
            </a:pPr>
            <a:r>
              <a:t>to Involvement</a:t>
            </a:r>
          </a:p>
        </p:txBody>
      </p:sp>
      <p:sp>
        <p:nvSpPr>
          <p:cNvPr id="8" name="TextBox 7"/>
          <p:cNvSpPr txBox="1"/>
          <p:nvPr/>
        </p:nvSpPr>
        <p:spPr>
          <a:xfrm>
            <a:off x="533400" y="2286000"/>
            <a:ext cx="6489700" cy="254000"/>
          </a:xfrm>
          <a:prstGeom prst="rect">
            <a:avLst/>
          </a:prstGeom>
          <a:noFill/>
        </p:spPr>
        <p:txBody>
          <a:bodyPr wrap="none" lIns="0" rIns="0" tIns="0" bIns="0">
            <a:spAutoFit/>
          </a:bodyPr>
          <a:lstStyle/>
          <a:p>
            <a:pPr>
              <a:lnSpc>
                <a:spcPts val="1500"/>
              </a:lnSpc>
              <a:spcAft>
                <a:spcPts val="0"/>
              </a:spcAft>
              <a:defRPr b="1" sz="1000">
                <a:solidFill>
                  <a:srgbClr val="57534E"/>
                </a:solidFill>
                <a:latin typeface="DM Sans 9pt"/>
              </a:defRPr>
            </a:pPr>
            <a:r>
              <a:t>Independent Marketing Strategy &amp; Creative Concept / Brand studied: Rhode</a:t>
            </a:r>
          </a:p>
        </p:txBody>
      </p:sp>
      <p:pic>
        <p:nvPicPr>
          <p:cNvPr id="9" name="Picture 8" descr="landing.jpg"/>
          <p:cNvPicPr>
            <a:picLocks noChangeAspect="1"/>
          </p:cNvPicPr>
          <p:nvPr/>
        </p:nvPicPr>
        <p:blipFill>
          <a:blip r:embed="rId2"/>
          <a:stretch>
            <a:fillRect/>
          </a:stretch>
        </p:blipFill>
        <p:spPr>
          <a:xfrm>
            <a:off x="533400" y="2755900"/>
            <a:ext cx="6489700" cy="3620035"/>
          </a:xfrm>
          <a:prstGeom prst="rect">
            <a:avLst/>
          </a:prstGeom>
        </p:spPr>
      </p:pic>
      <p:sp>
        <p:nvSpPr>
          <p:cNvPr id="10" name="TextBox 9"/>
          <p:cNvSpPr txBox="1"/>
          <p:nvPr/>
        </p:nvSpPr>
        <p:spPr>
          <a:xfrm>
            <a:off x="533400" y="6515635"/>
            <a:ext cx="6489700" cy="228600"/>
          </a:xfrm>
          <a:prstGeom prst="rect">
            <a:avLst/>
          </a:prstGeom>
          <a:noFill/>
        </p:spPr>
        <p:txBody>
          <a:bodyPr wrap="none" lIns="0" rIns="0" tIns="0" bIns="0">
            <a:spAutoFit/>
          </a:bodyPr>
          <a:lstStyle/>
          <a:p>
            <a:pPr>
              <a:lnSpc>
                <a:spcPts val="1300"/>
              </a:lnSpc>
              <a:spcAft>
                <a:spcPts val="0"/>
              </a:spcAft>
              <a:defRPr b="0" sz="900">
                <a:solidFill>
                  <a:srgbClr val="57534E"/>
                </a:solidFill>
                <a:latin typeface="DM Sans 9pt"/>
              </a:defRPr>
            </a:pPr>
            <a:r>
              <a:t>A dedicated space for the people who know Rhode best.</a:t>
            </a:r>
          </a:p>
        </p:txBody>
      </p:sp>
      <p:sp>
        <p:nvSpPr>
          <p:cNvPr id="11" name="TextBox 10"/>
          <p:cNvSpPr txBox="1"/>
          <p:nvPr/>
        </p:nvSpPr>
        <p:spPr>
          <a:xfrm>
            <a:off x="533400" y="6845835"/>
            <a:ext cx="64897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THE OPPORTUNITY</a:t>
            </a:r>
          </a:p>
        </p:txBody>
      </p:sp>
      <p:sp>
        <p:nvSpPr>
          <p:cNvPr id="12" name="TextBox 11"/>
          <p:cNvSpPr txBox="1"/>
          <p:nvPr/>
        </p:nvSpPr>
        <p:spPr>
          <a:xfrm>
            <a:off x="533400" y="7125235"/>
            <a:ext cx="6489700" cy="673100"/>
          </a:xfrm>
          <a:prstGeom prst="rect">
            <a:avLst/>
          </a:prstGeom>
          <a:noFill/>
        </p:spPr>
        <p:txBody>
          <a:bodyPr wrap="none" lIns="0" rIns="0" tIns="0" bIns="0">
            <a:spAutoFit/>
          </a:bodyPr>
          <a:lstStyle/>
          <a:p>
            <a:pPr>
              <a:lnSpc>
                <a:spcPts val="1600"/>
              </a:lnSpc>
              <a:spcAft>
                <a:spcPts val="0"/>
              </a:spcAft>
              <a:defRPr b="0" sz="1100">
                <a:solidFill>
                  <a:srgbClr val="1C1917"/>
                </a:solidFill>
                <a:latin typeface="DM Sans 9pt"/>
              </a:defRPr>
            </a:pPr>
            <a:r>
              <a:t>Rhode has established a distinctive identity through its visual direction, product presentation, and Hailey Bieber’s cultural influence. This independent project explores how the brand could develop a closer relationship with everyday customers by creating more opportunities for direct involvement.</a:t>
            </a:r>
          </a:p>
        </p:txBody>
      </p:sp>
      <p:sp>
        <p:nvSpPr>
          <p:cNvPr id="13" name="TextBox 12"/>
          <p:cNvSpPr txBox="1"/>
          <p:nvPr/>
        </p:nvSpPr>
        <p:spPr>
          <a:xfrm>
            <a:off x="533400" y="8026935"/>
            <a:ext cx="64897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THE PROPOSAL</a:t>
            </a:r>
          </a:p>
        </p:txBody>
      </p:sp>
      <p:sp>
        <p:nvSpPr>
          <p:cNvPr id="14" name="TextBox 13"/>
          <p:cNvSpPr txBox="1"/>
          <p:nvPr/>
        </p:nvSpPr>
        <p:spPr>
          <a:xfrm>
            <a:off x="533400" y="8306335"/>
            <a:ext cx="6489700" cy="469900"/>
          </a:xfrm>
          <a:prstGeom prst="rect">
            <a:avLst/>
          </a:prstGeom>
          <a:noFill/>
        </p:spPr>
        <p:txBody>
          <a:bodyPr wrap="none" lIns="0" rIns="0" tIns="0" bIns="0">
            <a:spAutoFit/>
          </a:bodyPr>
          <a:lstStyle/>
          <a:p>
            <a:pPr>
              <a:lnSpc>
                <a:spcPts val="1600"/>
              </a:lnSpc>
              <a:spcAft>
                <a:spcPts val="0"/>
              </a:spcAft>
              <a:defRPr b="0" sz="1100">
                <a:solidFill>
                  <a:srgbClr val="1C1917"/>
                </a:solidFill>
                <a:latin typeface="DM Sans 9pt"/>
              </a:defRPr>
            </a:pPr>
            <a:r>
              <a:t>A verified-customer community within Rhode’s existing digital ecosystem, designed to connect feedback, direct conversations, and participation in what comes next.</a:t>
            </a:r>
          </a:p>
        </p:txBody>
      </p:sp>
      <p:sp>
        <p:nvSpPr>
          <p:cNvPr id="15" name="TextBox 14"/>
          <p:cNvSpPr txBox="1"/>
          <p:nvPr/>
        </p:nvSpPr>
        <p:spPr>
          <a:xfrm>
            <a:off x="533400" y="9448800"/>
            <a:ext cx="6489700" cy="228600"/>
          </a:xfrm>
          <a:prstGeom prst="rect">
            <a:avLst/>
          </a:prstGeom>
          <a:noFill/>
        </p:spPr>
        <p:txBody>
          <a:bodyPr wrap="none" lIns="0" rIns="0" tIns="0" bIns="0">
            <a:spAutoFit/>
          </a:bodyPr>
          <a:lstStyle/>
          <a:p>
            <a:pPr>
              <a:lnSpc>
                <a:spcPts val="1300"/>
              </a:lnSpc>
              <a:spcAft>
                <a:spcPts val="0"/>
              </a:spcAft>
              <a:defRPr b="0" sz="850">
                <a:solidFill>
                  <a:srgbClr val="57534E"/>
                </a:solidFill>
                <a:latin typeface="DM Sans 9pt"/>
              </a:defRPr>
            </a:pPr>
            <a:r>
              <a:t>Independent speculative concept. Not commissioned by, affiliated with, or endorsed by Rhode.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3400" y="355600"/>
            <a:ext cx="44450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SARAH SAFWAN / PORTFOLIO 2026</a:t>
            </a:r>
          </a:p>
        </p:txBody>
      </p:sp>
      <p:sp>
        <p:nvSpPr>
          <p:cNvPr id="3" name="TextBox 2"/>
          <p:cNvSpPr txBox="1"/>
          <p:nvPr/>
        </p:nvSpPr>
        <p:spPr>
          <a:xfrm>
            <a:off x="5207000" y="355600"/>
            <a:ext cx="1816100" cy="203200"/>
          </a:xfrm>
          <a:prstGeom prst="rect">
            <a:avLst/>
          </a:prstGeom>
          <a:noFill/>
        </p:spPr>
        <p:txBody>
          <a:bodyPr wrap="none" lIns="0" rIns="0" tIns="0" bIns="0">
            <a:spAutoFit/>
          </a:bodyPr>
          <a:lstStyle/>
          <a:p>
            <a:pPr>
              <a:lnSpc>
                <a:spcPts val="1100"/>
              </a:lnSpc>
              <a:spcAft>
                <a:spcPts val="0"/>
              </a:spcAft>
              <a:defRPr b="1" sz="740">
                <a:solidFill>
                  <a:srgbClr val="57534E"/>
                </a:solidFill>
                <a:latin typeface="DM Sans 9pt"/>
              </a:defRPr>
            </a:pPr>
            <a:r>
              <a:t>RHODE / STRATEGY</a:t>
            </a:r>
          </a:p>
        </p:txBody>
      </p:sp>
      <p:sp>
        <p:nvSpPr>
          <p:cNvPr id="4" name="Rectangle 3"/>
          <p:cNvSpPr/>
          <p:nvPr/>
        </p:nvSpPr>
        <p:spPr>
          <a:xfrm>
            <a:off x="533400" y="6604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33400" y="101346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10274300"/>
            <a:ext cx="6350000" cy="177800"/>
          </a:xfrm>
          <a:prstGeom prst="rect">
            <a:avLst/>
          </a:prstGeom>
          <a:noFill/>
        </p:spPr>
        <p:txBody>
          <a:bodyPr wrap="none" lIns="0" rIns="0" tIns="0" bIns="0">
            <a:spAutoFit/>
          </a:bodyPr>
          <a:lstStyle/>
          <a:p>
            <a:pPr>
              <a:defRPr sz="720">
                <a:latin typeface="DM Sans 9pt"/>
              </a:defRPr>
            </a:pPr>
            <a:r>
              <a:t>Sarah Safwan / Digital Marketing &amp; Creative Specialist                                                    05 / 17</a:t>
            </a:r>
          </a:p>
        </p:txBody>
      </p:sp>
      <p:sp>
        <p:nvSpPr>
          <p:cNvPr id="7" name="TextBox 6"/>
          <p:cNvSpPr txBox="1"/>
          <p:nvPr/>
        </p:nvSpPr>
        <p:spPr>
          <a:xfrm>
            <a:off x="533400" y="1104900"/>
            <a:ext cx="6489700" cy="1079500"/>
          </a:xfrm>
          <a:prstGeom prst="rect">
            <a:avLst/>
          </a:prstGeom>
          <a:noFill/>
        </p:spPr>
        <p:txBody>
          <a:bodyPr wrap="none" lIns="0" rIns="0" tIns="0" bIns="0">
            <a:spAutoFit/>
          </a:bodyPr>
          <a:lstStyle/>
          <a:p>
            <a:pPr>
              <a:lnSpc>
                <a:spcPts val="4000"/>
              </a:lnSpc>
              <a:spcAft>
                <a:spcPts val="0"/>
              </a:spcAft>
              <a:defRPr b="0" sz="3500">
                <a:solidFill>
                  <a:srgbClr val="1C1917"/>
                </a:solidFill>
                <a:latin typeface="Bodoni Moda"/>
              </a:defRPr>
            </a:pPr>
            <a:r>
              <a:t>From visibility</a:t>
            </a:r>
          </a:p>
          <a:p>
            <a:pPr>
              <a:lnSpc>
                <a:spcPts val="4000"/>
              </a:lnSpc>
              <a:spcAft>
                <a:spcPts val="0"/>
              </a:spcAft>
              <a:defRPr b="0" sz="3500">
                <a:solidFill>
                  <a:srgbClr val="1C1917"/>
                </a:solidFill>
                <a:latin typeface="Bodoni Moda"/>
              </a:defRPr>
            </a:pPr>
            <a:r>
              <a:t>to participation</a:t>
            </a:r>
          </a:p>
        </p:txBody>
      </p:sp>
      <p:sp>
        <p:nvSpPr>
          <p:cNvPr id="8" name="TextBox 7"/>
          <p:cNvSpPr txBox="1"/>
          <p:nvPr/>
        </p:nvSpPr>
        <p:spPr>
          <a:xfrm>
            <a:off x="533400" y="2286000"/>
            <a:ext cx="6489700" cy="254000"/>
          </a:xfrm>
          <a:prstGeom prst="rect">
            <a:avLst/>
          </a:prstGeom>
          <a:noFill/>
        </p:spPr>
        <p:txBody>
          <a:bodyPr wrap="none" lIns="0" rIns="0" tIns="0" bIns="0">
            <a:spAutoFit/>
          </a:bodyPr>
          <a:lstStyle/>
          <a:p>
            <a:pPr>
              <a:lnSpc>
                <a:spcPts val="1500"/>
              </a:lnSpc>
              <a:spcAft>
                <a:spcPts val="0"/>
              </a:spcAft>
              <a:defRPr b="1" sz="1000">
                <a:solidFill>
                  <a:srgbClr val="57534E"/>
                </a:solidFill>
                <a:latin typeface="DM Sans 9pt"/>
              </a:defRPr>
            </a:pPr>
            <a:r>
              <a:t>An independent strategic observation, not a claim about current brand practice</a:t>
            </a:r>
          </a:p>
        </p:txBody>
      </p:sp>
      <p:pic>
        <p:nvPicPr>
          <p:cNvPr id="9" name="Picture 8" descr="overview.jpg"/>
          <p:cNvPicPr>
            <a:picLocks noChangeAspect="1"/>
          </p:cNvPicPr>
          <p:nvPr/>
        </p:nvPicPr>
        <p:blipFill>
          <a:blip r:embed="rId2"/>
          <a:stretch>
            <a:fillRect/>
          </a:stretch>
        </p:blipFill>
        <p:spPr>
          <a:xfrm>
            <a:off x="533400" y="2755900"/>
            <a:ext cx="6489700" cy="3620035"/>
          </a:xfrm>
          <a:prstGeom prst="rect">
            <a:avLst/>
          </a:prstGeom>
        </p:spPr>
      </p:pic>
      <p:sp>
        <p:nvSpPr>
          <p:cNvPr id="10" name="TextBox 9"/>
          <p:cNvSpPr txBox="1"/>
          <p:nvPr/>
        </p:nvSpPr>
        <p:spPr>
          <a:xfrm>
            <a:off x="533400" y="6515635"/>
            <a:ext cx="6489700" cy="228600"/>
          </a:xfrm>
          <a:prstGeom prst="rect">
            <a:avLst/>
          </a:prstGeom>
          <a:noFill/>
        </p:spPr>
        <p:txBody>
          <a:bodyPr wrap="none" lIns="0" rIns="0" tIns="0" bIns="0">
            <a:spAutoFit/>
          </a:bodyPr>
          <a:lstStyle/>
          <a:p>
            <a:pPr>
              <a:lnSpc>
                <a:spcPts val="1300"/>
              </a:lnSpc>
              <a:spcAft>
                <a:spcPts val="0"/>
              </a:spcAft>
              <a:defRPr b="0" sz="900">
                <a:solidFill>
                  <a:srgbClr val="57534E"/>
                </a:solidFill>
                <a:latin typeface="DM Sans 9pt"/>
              </a:defRPr>
            </a:pPr>
            <a:r>
              <a:t>Early exploration of a customer-centered Rhode digital ecosystem.</a:t>
            </a:r>
          </a:p>
        </p:txBody>
      </p:sp>
      <p:sp>
        <p:nvSpPr>
          <p:cNvPr id="11" name="TextBox 10"/>
          <p:cNvSpPr txBox="1"/>
          <p:nvPr/>
        </p:nvSpPr>
        <p:spPr>
          <a:xfrm>
            <a:off x="533400" y="6845835"/>
            <a:ext cx="64897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COMPLEMENTING INFLUENCE</a:t>
            </a:r>
          </a:p>
        </p:txBody>
      </p:sp>
      <p:sp>
        <p:nvSpPr>
          <p:cNvPr id="12" name="TextBox 11"/>
          <p:cNvSpPr txBox="1"/>
          <p:nvPr/>
        </p:nvSpPr>
        <p:spPr>
          <a:xfrm>
            <a:off x="533400" y="7125235"/>
            <a:ext cx="6489700" cy="876300"/>
          </a:xfrm>
          <a:prstGeom prst="rect">
            <a:avLst/>
          </a:prstGeom>
          <a:noFill/>
        </p:spPr>
        <p:txBody>
          <a:bodyPr wrap="none" lIns="0" rIns="0" tIns="0" bIns="0">
            <a:spAutoFit/>
          </a:bodyPr>
          <a:lstStyle/>
          <a:p>
            <a:pPr>
              <a:lnSpc>
                <a:spcPts val="1600"/>
              </a:lnSpc>
              <a:spcAft>
                <a:spcPts val="0"/>
              </a:spcAft>
              <a:defRPr b="0" sz="1100">
                <a:solidFill>
                  <a:srgbClr val="1C1917"/>
                </a:solidFill>
                <a:latin typeface="DM Sans 9pt"/>
              </a:defRPr>
            </a:pPr>
            <a:r>
              <a:t>Influencer visibility and everyday customer participation serve different purposes. My hypothesis is that Rhode could build on its existing influence by giving verified customers more direct access to conversation, product feedback, and experiences. The concept does not propose abandoning influencer marketing.</a:t>
            </a:r>
          </a:p>
        </p:txBody>
      </p:sp>
      <p:sp>
        <p:nvSpPr>
          <p:cNvPr id="13" name="TextBox 12"/>
          <p:cNvSpPr txBox="1"/>
          <p:nvPr/>
        </p:nvSpPr>
        <p:spPr>
          <a:xfrm>
            <a:off x="533400" y="8230135"/>
            <a:ext cx="3048000" cy="381000"/>
          </a:xfrm>
          <a:prstGeom prst="rect">
            <a:avLst/>
          </a:prstGeom>
          <a:noFill/>
        </p:spPr>
        <p:txBody>
          <a:bodyPr wrap="none" lIns="0" rIns="0" tIns="0" bIns="0">
            <a:spAutoFit/>
          </a:bodyPr>
          <a:lstStyle/>
          <a:p>
            <a:pPr>
              <a:lnSpc>
                <a:spcPts val="2500"/>
              </a:lnSpc>
              <a:spcAft>
                <a:spcPts val="0"/>
              </a:spcAft>
              <a:defRPr b="0" sz="2000">
                <a:solidFill>
                  <a:srgbClr val="1C1917"/>
                </a:solidFill>
                <a:latin typeface="Bodoni Moda"/>
              </a:defRPr>
            </a:pPr>
            <a:r>
              <a:t>The proposed ecosystem</a:t>
            </a:r>
          </a:p>
        </p:txBody>
      </p:sp>
      <p:sp>
        <p:nvSpPr>
          <p:cNvPr id="14" name="TextBox 13"/>
          <p:cNvSpPr txBox="1"/>
          <p:nvPr/>
        </p:nvSpPr>
        <p:spPr>
          <a:xfrm>
            <a:off x="533400" y="8788935"/>
            <a:ext cx="3073400" cy="673100"/>
          </a:xfrm>
          <a:prstGeom prst="rect">
            <a:avLst/>
          </a:prstGeom>
          <a:noFill/>
        </p:spPr>
        <p:txBody>
          <a:bodyPr wrap="none" lIns="0" rIns="0" tIns="0" bIns="0">
            <a:spAutoFit/>
          </a:bodyPr>
          <a:lstStyle/>
          <a:p>
            <a:pPr>
              <a:lnSpc>
                <a:spcPts val="1600"/>
              </a:lnSpc>
              <a:spcAft>
                <a:spcPts val="0"/>
              </a:spcAft>
              <a:defRPr b="0" sz="1000">
                <a:solidFill>
                  <a:srgbClr val="1C1917"/>
                </a:solidFill>
                <a:latin typeface="DM Sans 9pt"/>
              </a:defRPr>
            </a:pPr>
            <a:r>
              <a:t>Product suggestions and voting</a:t>
            </a:r>
          </a:p>
          <a:p>
            <a:pPr>
              <a:lnSpc>
                <a:spcPts val="1600"/>
              </a:lnSpc>
              <a:spcAft>
                <a:spcPts val="0"/>
              </a:spcAft>
              <a:defRPr b="0" sz="1000">
                <a:solidFill>
                  <a:srgbClr val="1C1917"/>
                </a:solidFill>
                <a:latin typeface="DM Sans 9pt"/>
              </a:defRPr>
            </a:pPr>
            <a:r>
              <a:t>Customer-testing applications</a:t>
            </a:r>
          </a:p>
          <a:p>
            <a:pPr>
              <a:lnSpc>
                <a:spcPts val="1600"/>
              </a:lnSpc>
              <a:spcAft>
                <a:spcPts val="0"/>
              </a:spcAft>
              <a:defRPr b="0" sz="1000">
                <a:solidFill>
                  <a:srgbClr val="1C1917"/>
                </a:solidFill>
                <a:latin typeface="DM Sans 9pt"/>
              </a:defRPr>
            </a:pPr>
            <a:r>
              <a:t>Rewards and participation benefits</a:t>
            </a:r>
          </a:p>
        </p:txBody>
      </p:sp>
      <p:sp>
        <p:nvSpPr>
          <p:cNvPr id="15" name="TextBox 14"/>
          <p:cNvSpPr txBox="1"/>
          <p:nvPr/>
        </p:nvSpPr>
        <p:spPr>
          <a:xfrm>
            <a:off x="3937000" y="8788935"/>
            <a:ext cx="3086100" cy="673100"/>
          </a:xfrm>
          <a:prstGeom prst="rect">
            <a:avLst/>
          </a:prstGeom>
          <a:noFill/>
        </p:spPr>
        <p:txBody>
          <a:bodyPr wrap="none" lIns="0" rIns="0" tIns="0" bIns="0">
            <a:spAutoFit/>
          </a:bodyPr>
          <a:lstStyle/>
          <a:p>
            <a:pPr>
              <a:lnSpc>
                <a:spcPts val="1600"/>
              </a:lnSpc>
              <a:spcAft>
                <a:spcPts val="0"/>
              </a:spcAft>
              <a:defRPr b="0" sz="1000">
                <a:solidFill>
                  <a:srgbClr val="1C1917"/>
                </a:solidFill>
                <a:latin typeface="DM Sans 9pt"/>
              </a:defRPr>
            </a:pPr>
            <a:r>
              <a:t>Direct conversations with the team</a:t>
            </a:r>
          </a:p>
          <a:p>
            <a:pPr>
              <a:lnSpc>
                <a:spcPts val="1600"/>
              </a:lnSpc>
              <a:spcAft>
                <a:spcPts val="0"/>
              </a:spcAft>
              <a:defRPr b="0" sz="1000">
                <a:solidFill>
                  <a:srgbClr val="1C1917"/>
                </a:solidFill>
                <a:latin typeface="DM Sans 9pt"/>
              </a:defRPr>
            </a:pPr>
            <a:r>
              <a:t>International community experiences</a:t>
            </a:r>
          </a:p>
          <a:p>
            <a:pPr>
              <a:lnSpc>
                <a:spcPts val="1600"/>
              </a:lnSpc>
              <a:spcAft>
                <a:spcPts val="0"/>
              </a:spcAft>
              <a:defRPr b="0" sz="1000">
                <a:solidFill>
                  <a:srgbClr val="1C1917"/>
                </a:solidFill>
                <a:latin typeface="DM Sans 9pt"/>
              </a:defRPr>
            </a:pPr>
            <a:r>
              <a:t>Visible updates on customer ideas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3400" y="355600"/>
            <a:ext cx="44450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SARAH SAFWAN / PORTFOLIO 2026</a:t>
            </a:r>
          </a:p>
        </p:txBody>
      </p:sp>
      <p:sp>
        <p:nvSpPr>
          <p:cNvPr id="3" name="TextBox 2"/>
          <p:cNvSpPr txBox="1"/>
          <p:nvPr/>
        </p:nvSpPr>
        <p:spPr>
          <a:xfrm>
            <a:off x="5207000" y="355600"/>
            <a:ext cx="1816100" cy="203200"/>
          </a:xfrm>
          <a:prstGeom prst="rect">
            <a:avLst/>
          </a:prstGeom>
          <a:noFill/>
        </p:spPr>
        <p:txBody>
          <a:bodyPr wrap="none" lIns="0" rIns="0" tIns="0" bIns="0">
            <a:spAutoFit/>
          </a:bodyPr>
          <a:lstStyle/>
          <a:p>
            <a:pPr>
              <a:lnSpc>
                <a:spcPts val="1100"/>
              </a:lnSpc>
              <a:spcAft>
                <a:spcPts val="0"/>
              </a:spcAft>
              <a:defRPr b="1" sz="740">
                <a:solidFill>
                  <a:srgbClr val="57534E"/>
                </a:solidFill>
                <a:latin typeface="DM Sans 9pt"/>
              </a:defRPr>
            </a:pPr>
            <a:r>
              <a:t>RHODE / CUSTOMER ACCESS</a:t>
            </a:r>
          </a:p>
        </p:txBody>
      </p:sp>
      <p:sp>
        <p:nvSpPr>
          <p:cNvPr id="4" name="Rectangle 3"/>
          <p:cNvSpPr/>
          <p:nvPr/>
        </p:nvSpPr>
        <p:spPr>
          <a:xfrm>
            <a:off x="533400" y="6604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33400" y="101346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10274300"/>
            <a:ext cx="6350000" cy="177800"/>
          </a:xfrm>
          <a:prstGeom prst="rect">
            <a:avLst/>
          </a:prstGeom>
          <a:noFill/>
        </p:spPr>
        <p:txBody>
          <a:bodyPr wrap="none" lIns="0" rIns="0" tIns="0" bIns="0">
            <a:spAutoFit/>
          </a:bodyPr>
          <a:lstStyle/>
          <a:p>
            <a:pPr>
              <a:defRPr sz="720">
                <a:latin typeface="DM Sans 9pt"/>
              </a:defRPr>
            </a:pPr>
            <a:r>
              <a:t>Sarah Safwan / Digital Marketing &amp; Creative Specialist                                                    06 / 17</a:t>
            </a:r>
          </a:p>
        </p:txBody>
      </p:sp>
      <p:sp>
        <p:nvSpPr>
          <p:cNvPr id="7" name="TextBox 6"/>
          <p:cNvSpPr txBox="1"/>
          <p:nvPr/>
        </p:nvSpPr>
        <p:spPr>
          <a:xfrm>
            <a:off x="533400" y="1104900"/>
            <a:ext cx="6489700" cy="1079500"/>
          </a:xfrm>
          <a:prstGeom prst="rect">
            <a:avLst/>
          </a:prstGeom>
          <a:noFill/>
        </p:spPr>
        <p:txBody>
          <a:bodyPr wrap="none" lIns="0" rIns="0" tIns="0" bIns="0">
            <a:spAutoFit/>
          </a:bodyPr>
          <a:lstStyle/>
          <a:p>
            <a:pPr>
              <a:lnSpc>
                <a:spcPts val="4000"/>
              </a:lnSpc>
              <a:spcAft>
                <a:spcPts val="0"/>
              </a:spcAft>
              <a:defRPr b="0" sz="3500">
                <a:solidFill>
                  <a:srgbClr val="1C1917"/>
                </a:solidFill>
                <a:latin typeface="Bodoni Moda"/>
              </a:defRPr>
            </a:pPr>
            <a:r>
              <a:t>Membership starts</a:t>
            </a:r>
          </a:p>
          <a:p>
            <a:pPr>
              <a:lnSpc>
                <a:spcPts val="4000"/>
              </a:lnSpc>
              <a:spcAft>
                <a:spcPts val="0"/>
              </a:spcAft>
              <a:defRPr b="0" sz="3500">
                <a:solidFill>
                  <a:srgbClr val="1C1917"/>
                </a:solidFill>
                <a:latin typeface="Bodoni Moda"/>
              </a:defRPr>
            </a:pPr>
            <a:r>
              <a:t>with customers</a:t>
            </a:r>
          </a:p>
        </p:txBody>
      </p:sp>
      <p:sp>
        <p:nvSpPr>
          <p:cNvPr id="8" name="TextBox 7"/>
          <p:cNvSpPr txBox="1"/>
          <p:nvPr/>
        </p:nvSpPr>
        <p:spPr>
          <a:xfrm>
            <a:off x="533400" y="2286000"/>
            <a:ext cx="6489700" cy="254000"/>
          </a:xfrm>
          <a:prstGeom prst="rect">
            <a:avLst/>
          </a:prstGeom>
          <a:noFill/>
        </p:spPr>
        <p:txBody>
          <a:bodyPr wrap="none" lIns="0" rIns="0" tIns="0" bIns="0">
            <a:spAutoFit/>
          </a:bodyPr>
          <a:lstStyle/>
          <a:p>
            <a:pPr>
              <a:lnSpc>
                <a:spcPts val="1500"/>
              </a:lnSpc>
              <a:spcAft>
                <a:spcPts val="0"/>
              </a:spcAft>
              <a:defRPr b="1" sz="1000">
                <a:solidFill>
                  <a:srgbClr val="57534E"/>
                </a:solidFill>
                <a:latin typeface="DM Sans 9pt"/>
              </a:defRPr>
            </a:pPr>
            <a:r>
              <a:t>Customer Verification &amp; Onboarding</a:t>
            </a:r>
          </a:p>
        </p:txBody>
      </p:sp>
      <p:pic>
        <p:nvPicPr>
          <p:cNvPr id="9" name="Picture 8" descr="verification.jpg"/>
          <p:cNvPicPr>
            <a:picLocks noChangeAspect="1"/>
          </p:cNvPicPr>
          <p:nvPr/>
        </p:nvPicPr>
        <p:blipFill>
          <a:blip r:embed="rId2"/>
          <a:stretch>
            <a:fillRect/>
          </a:stretch>
        </p:blipFill>
        <p:spPr>
          <a:xfrm>
            <a:off x="533400" y="2755900"/>
            <a:ext cx="6489700" cy="3620035"/>
          </a:xfrm>
          <a:prstGeom prst="rect">
            <a:avLst/>
          </a:prstGeom>
        </p:spPr>
      </p:pic>
      <p:sp>
        <p:nvSpPr>
          <p:cNvPr id="10" name="TextBox 9"/>
          <p:cNvSpPr txBox="1"/>
          <p:nvPr/>
        </p:nvSpPr>
        <p:spPr>
          <a:xfrm>
            <a:off x="533400" y="6515635"/>
            <a:ext cx="6489700" cy="228600"/>
          </a:xfrm>
          <a:prstGeom prst="rect">
            <a:avLst/>
          </a:prstGeom>
          <a:noFill/>
        </p:spPr>
        <p:txBody>
          <a:bodyPr wrap="none" lIns="0" rIns="0" tIns="0" bIns="0">
            <a:spAutoFit/>
          </a:bodyPr>
          <a:lstStyle/>
          <a:p>
            <a:pPr>
              <a:lnSpc>
                <a:spcPts val="1300"/>
              </a:lnSpc>
              <a:spcAft>
                <a:spcPts val="0"/>
              </a:spcAft>
              <a:defRPr b="0" sz="900">
                <a:solidFill>
                  <a:srgbClr val="57534E"/>
                </a:solidFill>
                <a:latin typeface="DM Sans 9pt"/>
              </a:defRPr>
            </a:pPr>
            <a:r>
              <a:t>Membership begins with a genuine relationship to the brand.</a:t>
            </a:r>
          </a:p>
        </p:txBody>
      </p:sp>
      <p:sp>
        <p:nvSpPr>
          <p:cNvPr id="11" name="TextBox 10"/>
          <p:cNvSpPr txBox="1"/>
          <p:nvPr/>
        </p:nvSpPr>
        <p:spPr>
          <a:xfrm>
            <a:off x="533400" y="6845835"/>
            <a:ext cx="64897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ACCESS BASED ON CUSTOMERSHIP</a:t>
            </a:r>
          </a:p>
        </p:txBody>
      </p:sp>
      <p:sp>
        <p:nvSpPr>
          <p:cNvPr id="12" name="TextBox 11"/>
          <p:cNvSpPr txBox="1"/>
          <p:nvPr/>
        </p:nvSpPr>
        <p:spPr>
          <a:xfrm>
            <a:off x="533400" y="7125235"/>
            <a:ext cx="6489700" cy="876300"/>
          </a:xfrm>
          <a:prstGeom prst="rect">
            <a:avLst/>
          </a:prstGeom>
          <a:noFill/>
        </p:spPr>
        <p:txBody>
          <a:bodyPr wrap="none" lIns="0" rIns="0" tIns="0" bIns="0">
            <a:spAutoFit/>
          </a:bodyPr>
          <a:lstStyle/>
          <a:p>
            <a:pPr>
              <a:lnSpc>
                <a:spcPts val="1600"/>
              </a:lnSpc>
              <a:spcAft>
                <a:spcPts val="0"/>
              </a:spcAft>
              <a:defRPr b="0" sz="1100">
                <a:solidFill>
                  <a:srgbClr val="1C1917"/>
                </a:solidFill>
                <a:latin typeface="DM Sans 9pt"/>
              </a:defRPr>
            </a:pPr>
            <a:r>
              <a:t>The proposed onboarding flow gives customers a purchase-based route into the community. It distinguishes direct purchases from purchases through authorized retailers, with a verification path for each. Eligibility is central to the strategy: this is intended as a place for people using the products, rather than another audience built only around visibility.</a:t>
            </a:r>
          </a:p>
        </p:txBody>
      </p:sp>
      <p:sp>
        <p:nvSpPr>
          <p:cNvPr id="13" name="TextBox 12"/>
          <p:cNvSpPr txBox="1"/>
          <p:nvPr/>
        </p:nvSpPr>
        <p:spPr>
          <a:xfrm>
            <a:off x="533400" y="8230135"/>
            <a:ext cx="64897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A PROPOSED FLOW, NOT A LIVE INTEGRATION</a:t>
            </a:r>
          </a:p>
        </p:txBody>
      </p:sp>
      <p:sp>
        <p:nvSpPr>
          <p:cNvPr id="14" name="TextBox 13"/>
          <p:cNvSpPr txBox="1"/>
          <p:nvPr/>
        </p:nvSpPr>
        <p:spPr>
          <a:xfrm>
            <a:off x="533400" y="8509535"/>
            <a:ext cx="6489700" cy="673100"/>
          </a:xfrm>
          <a:prstGeom prst="rect">
            <a:avLst/>
          </a:prstGeom>
          <a:noFill/>
        </p:spPr>
        <p:txBody>
          <a:bodyPr wrap="none" lIns="0" rIns="0" tIns="0" bIns="0">
            <a:spAutoFit/>
          </a:bodyPr>
          <a:lstStyle/>
          <a:p>
            <a:pPr>
              <a:lnSpc>
                <a:spcPts val="1600"/>
              </a:lnSpc>
              <a:spcAft>
                <a:spcPts val="0"/>
              </a:spcAft>
              <a:defRPr b="0" sz="1100">
                <a:solidFill>
                  <a:srgbClr val="1C1917"/>
                </a:solidFill>
                <a:latin typeface="DM Sans 9pt"/>
              </a:defRPr>
            </a:pPr>
            <a:r>
              <a:t>The interface illustrates the intended customer journey. Retailer verification, account access, and handling of purchase information would need to be designed and tested before implementation. The mockup does not establish that these integrations exist.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3400" y="355600"/>
            <a:ext cx="44450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SARAH SAFWAN / PORTFOLIO 2026</a:t>
            </a:r>
          </a:p>
        </p:txBody>
      </p:sp>
      <p:sp>
        <p:nvSpPr>
          <p:cNvPr id="3" name="TextBox 2"/>
          <p:cNvSpPr txBox="1"/>
          <p:nvPr/>
        </p:nvSpPr>
        <p:spPr>
          <a:xfrm>
            <a:off x="5207000" y="355600"/>
            <a:ext cx="1816100" cy="203200"/>
          </a:xfrm>
          <a:prstGeom prst="rect">
            <a:avLst/>
          </a:prstGeom>
          <a:noFill/>
        </p:spPr>
        <p:txBody>
          <a:bodyPr wrap="none" lIns="0" rIns="0" tIns="0" bIns="0">
            <a:spAutoFit/>
          </a:bodyPr>
          <a:lstStyle/>
          <a:p>
            <a:pPr>
              <a:lnSpc>
                <a:spcPts val="1100"/>
              </a:lnSpc>
              <a:spcAft>
                <a:spcPts val="0"/>
              </a:spcAft>
              <a:defRPr b="1" sz="740">
                <a:solidFill>
                  <a:srgbClr val="57534E"/>
                </a:solidFill>
                <a:latin typeface="DM Sans 9pt"/>
              </a:defRPr>
            </a:pPr>
            <a:r>
              <a:t>RHODE / FOUNDER ACCESS</a:t>
            </a:r>
          </a:p>
        </p:txBody>
      </p:sp>
      <p:sp>
        <p:nvSpPr>
          <p:cNvPr id="4" name="Rectangle 3"/>
          <p:cNvSpPr/>
          <p:nvPr/>
        </p:nvSpPr>
        <p:spPr>
          <a:xfrm>
            <a:off x="533400" y="6604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33400" y="101346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10274300"/>
            <a:ext cx="6350000" cy="177800"/>
          </a:xfrm>
          <a:prstGeom prst="rect">
            <a:avLst/>
          </a:prstGeom>
          <a:noFill/>
        </p:spPr>
        <p:txBody>
          <a:bodyPr wrap="none" lIns="0" rIns="0" tIns="0" bIns="0">
            <a:spAutoFit/>
          </a:bodyPr>
          <a:lstStyle/>
          <a:p>
            <a:pPr>
              <a:defRPr sz="720">
                <a:latin typeface="DM Sans 9pt"/>
              </a:defRPr>
            </a:pPr>
            <a:r>
              <a:t>Sarah Safwan / Digital Marketing &amp; Creative Specialist                                                    07 / 17</a:t>
            </a:r>
          </a:p>
        </p:txBody>
      </p:sp>
      <p:sp>
        <p:nvSpPr>
          <p:cNvPr id="7" name="TextBox 6"/>
          <p:cNvSpPr txBox="1"/>
          <p:nvPr/>
        </p:nvSpPr>
        <p:spPr>
          <a:xfrm>
            <a:off x="533400" y="1104900"/>
            <a:ext cx="6489700" cy="1079500"/>
          </a:xfrm>
          <a:prstGeom prst="rect">
            <a:avLst/>
          </a:prstGeom>
          <a:noFill/>
        </p:spPr>
        <p:txBody>
          <a:bodyPr wrap="none" lIns="0" rIns="0" tIns="0" bIns="0">
            <a:spAutoFit/>
          </a:bodyPr>
          <a:lstStyle/>
          <a:p>
            <a:pPr>
              <a:lnSpc>
                <a:spcPts val="4000"/>
              </a:lnSpc>
              <a:spcAft>
                <a:spcPts val="0"/>
              </a:spcAft>
              <a:defRPr b="0" sz="3500">
                <a:solidFill>
                  <a:srgbClr val="1C1917"/>
                </a:solidFill>
                <a:latin typeface="Bodoni Moda"/>
              </a:defRPr>
            </a:pPr>
            <a:r>
              <a:t>A conversation</a:t>
            </a:r>
          </a:p>
          <a:p>
            <a:pPr>
              <a:lnSpc>
                <a:spcPts val="4000"/>
              </a:lnSpc>
              <a:spcAft>
                <a:spcPts val="0"/>
              </a:spcAft>
              <a:defRPr b="0" sz="3500">
                <a:solidFill>
                  <a:srgbClr val="1C1917"/>
                </a:solidFill>
                <a:latin typeface="Bodoni Moda"/>
              </a:defRPr>
            </a:pPr>
            <a:r>
              <a:t>with Hailey</a:t>
            </a:r>
          </a:p>
        </p:txBody>
      </p:sp>
      <p:sp>
        <p:nvSpPr>
          <p:cNvPr id="8" name="TextBox 7"/>
          <p:cNvSpPr txBox="1"/>
          <p:nvPr/>
        </p:nvSpPr>
        <p:spPr>
          <a:xfrm>
            <a:off x="533400" y="2286000"/>
            <a:ext cx="6489700" cy="254000"/>
          </a:xfrm>
          <a:prstGeom prst="rect">
            <a:avLst/>
          </a:prstGeom>
          <a:noFill/>
        </p:spPr>
        <p:txBody>
          <a:bodyPr wrap="none" lIns="0" rIns="0" tIns="0" bIns="0">
            <a:spAutoFit/>
          </a:bodyPr>
          <a:lstStyle/>
          <a:p>
            <a:pPr>
              <a:lnSpc>
                <a:spcPts val="1500"/>
              </a:lnSpc>
              <a:spcAft>
                <a:spcPts val="0"/>
              </a:spcAft>
              <a:defRPr b="1" sz="1000">
                <a:solidFill>
                  <a:srgbClr val="57534E"/>
                </a:solidFill>
                <a:latin typeface="DM Sans 9pt"/>
              </a:defRPr>
            </a:pPr>
            <a:r>
              <a:t>Proposed inaugural community event</a:t>
            </a:r>
          </a:p>
        </p:txBody>
      </p:sp>
      <p:pic>
        <p:nvPicPr>
          <p:cNvPr id="9" name="Picture 8" descr="live-qa.jpg"/>
          <p:cNvPicPr>
            <a:picLocks noChangeAspect="1"/>
          </p:cNvPicPr>
          <p:nvPr/>
        </p:nvPicPr>
        <p:blipFill>
          <a:blip r:embed="rId2"/>
          <a:stretch>
            <a:fillRect/>
          </a:stretch>
        </p:blipFill>
        <p:spPr>
          <a:xfrm>
            <a:off x="533400" y="2755900"/>
            <a:ext cx="6489700" cy="3620035"/>
          </a:xfrm>
          <a:prstGeom prst="rect">
            <a:avLst/>
          </a:prstGeom>
        </p:spPr>
      </p:pic>
      <p:sp>
        <p:nvSpPr>
          <p:cNvPr id="10" name="TextBox 9"/>
          <p:cNvSpPr txBox="1"/>
          <p:nvPr/>
        </p:nvSpPr>
        <p:spPr>
          <a:xfrm>
            <a:off x="533400" y="6515635"/>
            <a:ext cx="6489700" cy="228600"/>
          </a:xfrm>
          <a:prstGeom prst="rect">
            <a:avLst/>
          </a:prstGeom>
          <a:noFill/>
        </p:spPr>
        <p:txBody>
          <a:bodyPr wrap="none" lIns="0" rIns="0" tIns="0" bIns="0">
            <a:spAutoFit/>
          </a:bodyPr>
          <a:lstStyle/>
          <a:p>
            <a:pPr>
              <a:lnSpc>
                <a:spcPts val="1300"/>
              </a:lnSpc>
              <a:spcAft>
                <a:spcPts val="0"/>
              </a:spcAft>
              <a:defRPr b="0" sz="900">
                <a:solidFill>
                  <a:srgbClr val="57534E"/>
                </a:solidFill>
                <a:latin typeface="DM Sans 9pt"/>
              </a:defRPr>
            </a:pPr>
            <a:r>
              <a:t>A more direct conversation between Hailey and Rhode’s customers.</a:t>
            </a:r>
          </a:p>
        </p:txBody>
      </p:sp>
      <p:sp>
        <p:nvSpPr>
          <p:cNvPr id="11" name="TextBox 10"/>
          <p:cNvSpPr txBox="1"/>
          <p:nvPr/>
        </p:nvSpPr>
        <p:spPr>
          <a:xfrm>
            <a:off x="533400" y="6845835"/>
            <a:ext cx="64897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LIVE INTERACTION OVER A PROMOTIONAL FILM</a:t>
            </a:r>
          </a:p>
        </p:txBody>
      </p:sp>
      <p:sp>
        <p:nvSpPr>
          <p:cNvPr id="12" name="TextBox 11"/>
          <p:cNvSpPr txBox="1"/>
          <p:nvPr/>
        </p:nvSpPr>
        <p:spPr>
          <a:xfrm>
            <a:off x="533400" y="7125235"/>
            <a:ext cx="6489700" cy="673100"/>
          </a:xfrm>
          <a:prstGeom prst="rect">
            <a:avLst/>
          </a:prstGeom>
          <a:noFill/>
        </p:spPr>
        <p:txBody>
          <a:bodyPr wrap="none" lIns="0" rIns="0" tIns="0" bIns="0">
            <a:spAutoFit/>
          </a:bodyPr>
          <a:lstStyle/>
          <a:p>
            <a:pPr>
              <a:lnSpc>
                <a:spcPts val="1600"/>
              </a:lnSpc>
              <a:spcAft>
                <a:spcPts val="0"/>
              </a:spcAft>
              <a:defRPr b="0" sz="1100">
                <a:solidFill>
                  <a:srgbClr val="1C1917"/>
                </a:solidFill>
                <a:latin typeface="DM Sans 9pt"/>
              </a:defRPr>
            </a:pPr>
            <a:r>
              <a:t>The proposed opening event puts customer questions at the center. A live Q&amp;A could create space for spontaneous answers and the concerns customers bring to the discussion, rather than relying on a highly scripted promotional format.</a:t>
            </a:r>
          </a:p>
        </p:txBody>
      </p:sp>
      <p:sp>
        <p:nvSpPr>
          <p:cNvPr id="13" name="TextBox 12"/>
          <p:cNvSpPr txBox="1"/>
          <p:nvPr/>
        </p:nvSpPr>
        <p:spPr>
          <a:xfrm>
            <a:off x="533400" y="8026935"/>
            <a:ext cx="64897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KEEPING THE CONVERSATION OPEN</a:t>
            </a:r>
          </a:p>
        </p:txBody>
      </p:sp>
      <p:sp>
        <p:nvSpPr>
          <p:cNvPr id="14" name="TextBox 13"/>
          <p:cNvSpPr txBox="1"/>
          <p:nvPr/>
        </p:nvSpPr>
        <p:spPr>
          <a:xfrm>
            <a:off x="533400" y="8306335"/>
            <a:ext cx="6489700" cy="673100"/>
          </a:xfrm>
          <a:prstGeom prst="rect">
            <a:avLst/>
          </a:prstGeom>
          <a:noFill/>
        </p:spPr>
        <p:txBody>
          <a:bodyPr wrap="none" lIns="0" rIns="0" tIns="0" bIns="0">
            <a:spAutoFit/>
          </a:bodyPr>
          <a:lstStyle/>
          <a:p>
            <a:pPr>
              <a:lnSpc>
                <a:spcPts val="1600"/>
              </a:lnSpc>
              <a:spcAft>
                <a:spcPts val="0"/>
              </a:spcAft>
              <a:defRPr b="0" sz="1100">
                <a:solidFill>
                  <a:srgbClr val="1C1917"/>
                </a:solidFill>
                <a:latin typeface="DM Sans 9pt"/>
              </a:defRPr>
            </a:pPr>
            <a:r>
              <a:t>The concept includes a replay and a visible follow-up area for unanswered questions. Moderation would support a respectful conversation, while follow-through would keep the event connected to the wider community. Hailey Bieber has not participated in developing this project.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3400" y="355600"/>
            <a:ext cx="44450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SARAH SAFWAN / PORTFOLIO 2026</a:t>
            </a:r>
          </a:p>
        </p:txBody>
      </p:sp>
      <p:sp>
        <p:nvSpPr>
          <p:cNvPr id="3" name="TextBox 2"/>
          <p:cNvSpPr txBox="1"/>
          <p:nvPr/>
        </p:nvSpPr>
        <p:spPr>
          <a:xfrm>
            <a:off x="5207000" y="355600"/>
            <a:ext cx="1816100" cy="203200"/>
          </a:xfrm>
          <a:prstGeom prst="rect">
            <a:avLst/>
          </a:prstGeom>
          <a:noFill/>
        </p:spPr>
        <p:txBody>
          <a:bodyPr wrap="none" lIns="0" rIns="0" tIns="0" bIns="0">
            <a:spAutoFit/>
          </a:bodyPr>
          <a:lstStyle/>
          <a:p>
            <a:pPr>
              <a:lnSpc>
                <a:spcPts val="1100"/>
              </a:lnSpc>
              <a:spcAft>
                <a:spcPts val="0"/>
              </a:spcAft>
              <a:defRPr b="1" sz="740">
                <a:solidFill>
                  <a:srgbClr val="57534E"/>
                </a:solidFill>
                <a:latin typeface="DM Sans 9pt"/>
              </a:defRPr>
            </a:pPr>
            <a:r>
              <a:t>RHODE / FEEDBACK</a:t>
            </a:r>
          </a:p>
        </p:txBody>
      </p:sp>
      <p:sp>
        <p:nvSpPr>
          <p:cNvPr id="4" name="Rectangle 3"/>
          <p:cNvSpPr/>
          <p:nvPr/>
        </p:nvSpPr>
        <p:spPr>
          <a:xfrm>
            <a:off x="533400" y="6604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33400" y="101346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10274300"/>
            <a:ext cx="6350000" cy="177800"/>
          </a:xfrm>
          <a:prstGeom prst="rect">
            <a:avLst/>
          </a:prstGeom>
          <a:noFill/>
        </p:spPr>
        <p:txBody>
          <a:bodyPr wrap="none" lIns="0" rIns="0" tIns="0" bIns="0">
            <a:spAutoFit/>
          </a:bodyPr>
          <a:lstStyle/>
          <a:p>
            <a:pPr>
              <a:defRPr sz="720">
                <a:latin typeface="DM Sans 9pt"/>
              </a:defRPr>
            </a:pPr>
            <a:r>
              <a:t>Sarah Safwan / Digital Marketing &amp; Creative Specialist                                                    08 / 17</a:t>
            </a:r>
          </a:p>
        </p:txBody>
      </p:sp>
      <p:sp>
        <p:nvSpPr>
          <p:cNvPr id="7" name="TextBox 6"/>
          <p:cNvSpPr txBox="1"/>
          <p:nvPr/>
        </p:nvSpPr>
        <p:spPr>
          <a:xfrm>
            <a:off x="533400" y="1104900"/>
            <a:ext cx="6489700" cy="1079500"/>
          </a:xfrm>
          <a:prstGeom prst="rect">
            <a:avLst/>
          </a:prstGeom>
          <a:noFill/>
        </p:spPr>
        <p:txBody>
          <a:bodyPr wrap="none" lIns="0" rIns="0" tIns="0" bIns="0">
            <a:spAutoFit/>
          </a:bodyPr>
          <a:lstStyle/>
          <a:p>
            <a:pPr>
              <a:lnSpc>
                <a:spcPts val="4000"/>
              </a:lnSpc>
              <a:spcAft>
                <a:spcPts val="0"/>
              </a:spcAft>
              <a:defRPr b="0" sz="3500">
                <a:solidFill>
                  <a:srgbClr val="1C1917"/>
                </a:solidFill>
                <a:latin typeface="Bodoni Moda"/>
              </a:defRPr>
            </a:pPr>
            <a:r>
              <a:t>Conversations that</a:t>
            </a:r>
          </a:p>
          <a:p>
            <a:pPr>
              <a:lnSpc>
                <a:spcPts val="4000"/>
              </a:lnSpc>
              <a:spcAft>
                <a:spcPts val="0"/>
              </a:spcAft>
              <a:defRPr b="0" sz="3500">
                <a:solidFill>
                  <a:srgbClr val="1C1917"/>
                </a:solidFill>
                <a:latin typeface="Bodoni Moda"/>
              </a:defRPr>
            </a:pPr>
            <a:r>
              <a:t>lead somewhere</a:t>
            </a:r>
          </a:p>
        </p:txBody>
      </p:sp>
      <p:sp>
        <p:nvSpPr>
          <p:cNvPr id="8" name="TextBox 7"/>
          <p:cNvSpPr txBox="1"/>
          <p:nvPr/>
        </p:nvSpPr>
        <p:spPr>
          <a:xfrm>
            <a:off x="533400" y="2286000"/>
            <a:ext cx="6489700" cy="254000"/>
          </a:xfrm>
          <a:prstGeom prst="rect">
            <a:avLst/>
          </a:prstGeom>
          <a:noFill/>
        </p:spPr>
        <p:txBody>
          <a:bodyPr wrap="none" lIns="0" rIns="0" tIns="0" bIns="0">
            <a:spAutoFit/>
          </a:bodyPr>
          <a:lstStyle/>
          <a:p>
            <a:pPr>
              <a:lnSpc>
                <a:spcPts val="1500"/>
              </a:lnSpc>
              <a:spcAft>
                <a:spcPts val="0"/>
              </a:spcAft>
              <a:defRPr b="1" sz="1000">
                <a:solidFill>
                  <a:srgbClr val="57534E"/>
                </a:solidFill>
                <a:latin typeface="DM Sans 9pt"/>
              </a:defRPr>
            </a:pPr>
            <a:r>
              <a:t>Discussions &amp; Customer Feedback</a:t>
            </a:r>
          </a:p>
        </p:txBody>
      </p:sp>
      <p:pic>
        <p:nvPicPr>
          <p:cNvPr id="9" name="Picture 8" descr="discussions.jpg"/>
          <p:cNvPicPr>
            <a:picLocks noChangeAspect="1"/>
          </p:cNvPicPr>
          <p:nvPr/>
        </p:nvPicPr>
        <p:blipFill>
          <a:blip r:embed="rId2"/>
          <a:stretch>
            <a:fillRect/>
          </a:stretch>
        </p:blipFill>
        <p:spPr>
          <a:xfrm>
            <a:off x="533400" y="2755900"/>
            <a:ext cx="6489700" cy="3620035"/>
          </a:xfrm>
          <a:prstGeom prst="rect">
            <a:avLst/>
          </a:prstGeom>
        </p:spPr>
      </p:pic>
      <p:sp>
        <p:nvSpPr>
          <p:cNvPr id="10" name="TextBox 9"/>
          <p:cNvSpPr txBox="1"/>
          <p:nvPr/>
        </p:nvSpPr>
        <p:spPr>
          <a:xfrm>
            <a:off x="533400" y="6515635"/>
            <a:ext cx="6489700" cy="228600"/>
          </a:xfrm>
          <a:prstGeom prst="rect">
            <a:avLst/>
          </a:prstGeom>
          <a:noFill/>
        </p:spPr>
        <p:txBody>
          <a:bodyPr wrap="none" lIns="0" rIns="0" tIns="0" bIns="0">
            <a:spAutoFit/>
          </a:bodyPr>
          <a:lstStyle/>
          <a:p>
            <a:pPr>
              <a:lnSpc>
                <a:spcPts val="1300"/>
              </a:lnSpc>
              <a:spcAft>
                <a:spcPts val="0"/>
              </a:spcAft>
              <a:defRPr b="0" sz="900">
                <a:solidFill>
                  <a:srgbClr val="57534E"/>
                </a:solidFill>
                <a:latin typeface="DM Sans 9pt"/>
              </a:defRPr>
            </a:pPr>
            <a:r>
              <a:t>Customer feedback should lead to conversation and visible follow-through.</a:t>
            </a:r>
          </a:p>
        </p:txBody>
      </p:sp>
      <p:sp>
        <p:nvSpPr>
          <p:cNvPr id="11" name="TextBox 10"/>
          <p:cNvSpPr txBox="1"/>
          <p:nvPr/>
        </p:nvSpPr>
        <p:spPr>
          <a:xfrm>
            <a:off x="533400" y="6845835"/>
            <a:ext cx="64897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VISIBLE RESPONSES</a:t>
            </a:r>
          </a:p>
        </p:txBody>
      </p:sp>
      <p:sp>
        <p:nvSpPr>
          <p:cNvPr id="12" name="TextBox 11"/>
          <p:cNvSpPr txBox="1"/>
          <p:nvPr/>
        </p:nvSpPr>
        <p:spPr>
          <a:xfrm>
            <a:off x="533400" y="7125235"/>
            <a:ext cx="6489700" cy="673100"/>
          </a:xfrm>
          <a:prstGeom prst="rect">
            <a:avLst/>
          </a:prstGeom>
          <a:noFill/>
        </p:spPr>
        <p:txBody>
          <a:bodyPr wrap="none" lIns="0" rIns="0" tIns="0" bIns="0">
            <a:spAutoFit/>
          </a:bodyPr>
          <a:lstStyle/>
          <a:p>
            <a:pPr>
              <a:lnSpc>
                <a:spcPts val="1600"/>
              </a:lnSpc>
              <a:spcAft>
                <a:spcPts val="0"/>
              </a:spcAft>
              <a:defRPr b="0" sz="1100">
                <a:solidFill>
                  <a:srgbClr val="1C1917"/>
                </a:solidFill>
                <a:latin typeface="DM Sans 9pt"/>
              </a:defRPr>
            </a:pPr>
            <a:r>
              <a:t>The discussion space makes room for criticism, product suggestions, and responses from the team. A progress area proposes showing what is being reviewed, tested, or explored so contributions have a visible path beyond the original conversation.</a:t>
            </a:r>
          </a:p>
        </p:txBody>
      </p:sp>
      <p:sp>
        <p:nvSpPr>
          <p:cNvPr id="13" name="TextBox 12"/>
          <p:cNvSpPr txBox="1"/>
          <p:nvPr/>
        </p:nvSpPr>
        <p:spPr>
          <a:xfrm>
            <a:off x="533400" y="8026935"/>
            <a:ext cx="3098800" cy="368300"/>
          </a:xfrm>
          <a:prstGeom prst="rect">
            <a:avLst/>
          </a:prstGeom>
          <a:noFill/>
        </p:spPr>
        <p:txBody>
          <a:bodyPr wrap="none" lIns="0" rIns="0" tIns="0" bIns="0">
            <a:spAutoFit/>
          </a:bodyPr>
          <a:lstStyle/>
          <a:p>
            <a:pPr>
              <a:lnSpc>
                <a:spcPts val="2400"/>
              </a:lnSpc>
              <a:spcAft>
                <a:spcPts val="0"/>
              </a:spcAft>
              <a:defRPr b="0" sz="1900">
                <a:solidFill>
                  <a:srgbClr val="1C1917"/>
                </a:solidFill>
                <a:latin typeface="Bodoni Moda"/>
              </a:defRPr>
            </a:pPr>
            <a:r>
              <a:t>Potential strategic value</a:t>
            </a:r>
          </a:p>
        </p:txBody>
      </p:sp>
      <p:sp>
        <p:nvSpPr>
          <p:cNvPr id="14" name="TextBox 13"/>
          <p:cNvSpPr txBox="1"/>
          <p:nvPr/>
        </p:nvSpPr>
        <p:spPr>
          <a:xfrm>
            <a:off x="533400" y="8496835"/>
            <a:ext cx="3098800" cy="825500"/>
          </a:xfrm>
          <a:prstGeom prst="rect">
            <a:avLst/>
          </a:prstGeom>
          <a:noFill/>
        </p:spPr>
        <p:txBody>
          <a:bodyPr wrap="none" lIns="0" rIns="0" tIns="0" bIns="0">
            <a:spAutoFit/>
          </a:bodyPr>
          <a:lstStyle/>
          <a:p>
            <a:pPr>
              <a:lnSpc>
                <a:spcPts val="1500"/>
              </a:lnSpc>
              <a:spcAft>
                <a:spcPts val="0"/>
              </a:spcAft>
              <a:defRPr b="0" sz="1000">
                <a:solidFill>
                  <a:srgbClr val="1C1917"/>
                </a:solidFill>
                <a:latin typeface="DM Sans 9pt"/>
              </a:defRPr>
            </a:pPr>
            <a:r>
              <a:t>Stronger relationships, loyalty, repeat engagement, retention, community participation, and customer-led product insights are objectives of the concept, not measured results.</a:t>
            </a:r>
          </a:p>
        </p:txBody>
      </p:sp>
      <p:sp>
        <p:nvSpPr>
          <p:cNvPr id="15" name="TextBox 14"/>
          <p:cNvSpPr txBox="1"/>
          <p:nvPr/>
        </p:nvSpPr>
        <p:spPr>
          <a:xfrm>
            <a:off x="3937000" y="8026935"/>
            <a:ext cx="3086100" cy="368300"/>
          </a:xfrm>
          <a:prstGeom prst="rect">
            <a:avLst/>
          </a:prstGeom>
          <a:noFill/>
        </p:spPr>
        <p:txBody>
          <a:bodyPr wrap="none" lIns="0" rIns="0" tIns="0" bIns="0">
            <a:spAutoFit/>
          </a:bodyPr>
          <a:lstStyle/>
          <a:p>
            <a:pPr>
              <a:lnSpc>
                <a:spcPts val="2400"/>
              </a:lnSpc>
              <a:spcAft>
                <a:spcPts val="0"/>
              </a:spcAft>
              <a:defRPr b="0" sz="1900">
                <a:solidFill>
                  <a:srgbClr val="1C1917"/>
                </a:solidFill>
                <a:latin typeface="Bodoni Moda"/>
              </a:defRPr>
            </a:pPr>
            <a:r>
              <a:t>Proposed measurement</a:t>
            </a:r>
          </a:p>
        </p:txBody>
      </p:sp>
      <p:sp>
        <p:nvSpPr>
          <p:cNvPr id="16" name="TextBox 15"/>
          <p:cNvSpPr txBox="1"/>
          <p:nvPr/>
        </p:nvSpPr>
        <p:spPr>
          <a:xfrm>
            <a:off x="3937000" y="8496835"/>
            <a:ext cx="3086100" cy="825500"/>
          </a:xfrm>
          <a:prstGeom prst="rect">
            <a:avLst/>
          </a:prstGeom>
          <a:noFill/>
        </p:spPr>
        <p:txBody>
          <a:bodyPr wrap="none" lIns="0" rIns="0" tIns="0" bIns="0">
            <a:spAutoFit/>
          </a:bodyPr>
          <a:lstStyle/>
          <a:p>
            <a:pPr>
              <a:lnSpc>
                <a:spcPts val="1500"/>
              </a:lnSpc>
              <a:spcAft>
                <a:spcPts val="0"/>
              </a:spcAft>
              <a:defRPr b="0" sz="1000">
                <a:solidFill>
                  <a:srgbClr val="1C1917"/>
                </a:solidFill>
                <a:latin typeface="DM Sans 9pt"/>
              </a:defRPr>
            </a:pPr>
            <a:r>
              <a:t>Verified membership, meaningful participation, returning members, satisfaction, feedback acted on, testing participation, repeat purchases, and event attendance.</a:t>
            </a:r>
          </a:p>
        </p:txBody>
      </p:sp>
      <p:sp>
        <p:nvSpPr>
          <p:cNvPr id="17" name="TextBox 16"/>
          <p:cNvSpPr txBox="1"/>
          <p:nvPr/>
        </p:nvSpPr>
        <p:spPr>
          <a:xfrm>
            <a:off x="533400" y="9512300"/>
            <a:ext cx="3086100" cy="254000"/>
          </a:xfrm>
          <a:prstGeom prst="rect">
            <a:avLst/>
          </a:prstGeom>
          <a:noFill/>
        </p:spPr>
        <p:txBody>
          <a:bodyPr wrap="none" lIns="0" rIns="0" tIns="0" bIns="0">
            <a:spAutoFit/>
          </a:bodyPr>
          <a:lstStyle/>
          <a:p>
            <a:pPr>
              <a:lnSpc>
                <a:spcPts val="1500"/>
              </a:lnSpc>
              <a:spcAft>
                <a:spcPts val="0"/>
              </a:spcAft>
              <a:defRPr b="1" sz="1000">
                <a:solidFill>
                  <a:srgbClr val="1C1917"/>
                </a:solidFill>
                <a:latin typeface="DM Sans 9pt"/>
              </a:defRPr>
            </a:pPr>
            <a:r>
              <a:rPr>
                <a:hlinkClick r:id="rId3"/>
              </a:rPr>
              <a:t>View the full strategy presentation</a:t>
            </a:r>
          </a:p>
        </p:txBody>
      </p:sp>
      <p:sp>
        <p:nvSpPr>
          <p:cNvPr id="18" name="Rectangle 17"/>
          <p:cNvSpPr/>
          <p:nvPr/>
        </p:nvSpPr>
        <p:spPr>
          <a:xfrm>
            <a:off x="533400" y="9728200"/>
            <a:ext cx="203492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3400" y="355600"/>
            <a:ext cx="44450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SARAH SAFWAN / PORTFOLIO 2026</a:t>
            </a:r>
          </a:p>
        </p:txBody>
      </p:sp>
      <p:sp>
        <p:nvSpPr>
          <p:cNvPr id="3" name="TextBox 2"/>
          <p:cNvSpPr txBox="1"/>
          <p:nvPr/>
        </p:nvSpPr>
        <p:spPr>
          <a:xfrm>
            <a:off x="5207000" y="355600"/>
            <a:ext cx="1816100" cy="203200"/>
          </a:xfrm>
          <a:prstGeom prst="rect">
            <a:avLst/>
          </a:prstGeom>
          <a:noFill/>
        </p:spPr>
        <p:txBody>
          <a:bodyPr wrap="none" lIns="0" rIns="0" tIns="0" bIns="0">
            <a:spAutoFit/>
          </a:bodyPr>
          <a:lstStyle/>
          <a:p>
            <a:pPr>
              <a:lnSpc>
                <a:spcPts val="1100"/>
              </a:lnSpc>
              <a:spcAft>
                <a:spcPts val="0"/>
              </a:spcAft>
              <a:defRPr b="1" sz="740">
                <a:solidFill>
                  <a:srgbClr val="57534E"/>
                </a:solidFill>
                <a:latin typeface="DM Sans 9pt"/>
              </a:defRPr>
            </a:pPr>
            <a:r>
              <a:t>PROFESSIONAL EXPERIENCE</a:t>
            </a:r>
          </a:p>
        </p:txBody>
      </p:sp>
      <p:sp>
        <p:nvSpPr>
          <p:cNvPr id="4" name="Rectangle 3"/>
          <p:cNvSpPr/>
          <p:nvPr/>
        </p:nvSpPr>
        <p:spPr>
          <a:xfrm>
            <a:off x="533400" y="6604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33400" y="101346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10274300"/>
            <a:ext cx="6350000" cy="177800"/>
          </a:xfrm>
          <a:prstGeom prst="rect">
            <a:avLst/>
          </a:prstGeom>
          <a:noFill/>
        </p:spPr>
        <p:txBody>
          <a:bodyPr wrap="none" lIns="0" rIns="0" tIns="0" bIns="0">
            <a:spAutoFit/>
          </a:bodyPr>
          <a:lstStyle/>
          <a:p>
            <a:pPr>
              <a:defRPr sz="720">
                <a:latin typeface="DM Sans 9pt"/>
              </a:defRPr>
            </a:pPr>
            <a:r>
              <a:t>Sarah Safwan / Digital Marketing &amp; Creative Specialist                                                    09 / 17</a:t>
            </a:r>
          </a:p>
        </p:txBody>
      </p:sp>
      <p:sp>
        <p:nvSpPr>
          <p:cNvPr id="7" name="TextBox 6"/>
          <p:cNvSpPr txBox="1"/>
          <p:nvPr/>
        </p:nvSpPr>
        <p:spPr>
          <a:xfrm>
            <a:off x="533400" y="1104900"/>
            <a:ext cx="6489700" cy="571500"/>
          </a:xfrm>
          <a:prstGeom prst="rect">
            <a:avLst/>
          </a:prstGeom>
          <a:noFill/>
        </p:spPr>
        <p:txBody>
          <a:bodyPr wrap="none" lIns="0" rIns="0" tIns="0" bIns="0">
            <a:spAutoFit/>
          </a:bodyPr>
          <a:lstStyle/>
          <a:p>
            <a:pPr>
              <a:lnSpc>
                <a:spcPts val="4000"/>
              </a:lnSpc>
              <a:spcAft>
                <a:spcPts val="0"/>
              </a:spcAft>
              <a:defRPr b="0" sz="3500">
                <a:solidFill>
                  <a:srgbClr val="1C1917"/>
                </a:solidFill>
                <a:latin typeface="Bodoni Moda"/>
              </a:defRPr>
            </a:pPr>
            <a:r>
              <a:t>DAXUEN</a:t>
            </a:r>
          </a:p>
        </p:txBody>
      </p:sp>
      <p:sp>
        <p:nvSpPr>
          <p:cNvPr id="8" name="TextBox 7"/>
          <p:cNvSpPr txBox="1"/>
          <p:nvPr/>
        </p:nvSpPr>
        <p:spPr>
          <a:xfrm>
            <a:off x="533400" y="1778000"/>
            <a:ext cx="6489700" cy="254000"/>
          </a:xfrm>
          <a:prstGeom prst="rect">
            <a:avLst/>
          </a:prstGeom>
          <a:noFill/>
        </p:spPr>
        <p:txBody>
          <a:bodyPr wrap="none" lIns="0" rIns="0" tIns="0" bIns="0">
            <a:spAutoFit/>
          </a:bodyPr>
          <a:lstStyle/>
          <a:p>
            <a:pPr>
              <a:lnSpc>
                <a:spcPts val="1500"/>
              </a:lnSpc>
              <a:spcAft>
                <a:spcPts val="0"/>
              </a:spcAft>
              <a:defRPr b="1" sz="1000">
                <a:solidFill>
                  <a:srgbClr val="57534E"/>
                </a:solidFill>
                <a:latin typeface="DM Sans 9pt"/>
              </a:defRPr>
            </a:pPr>
            <a:r>
              <a:t>Marketing Intern / September 2026 to Present</a:t>
            </a:r>
          </a:p>
        </p:txBody>
      </p:sp>
      <p:sp>
        <p:nvSpPr>
          <p:cNvPr id="9" name="TextBox 8"/>
          <p:cNvSpPr txBox="1"/>
          <p:nvPr/>
        </p:nvSpPr>
        <p:spPr>
          <a:xfrm>
            <a:off x="533400" y="2247900"/>
            <a:ext cx="6489700" cy="977900"/>
          </a:xfrm>
          <a:prstGeom prst="rect">
            <a:avLst/>
          </a:prstGeom>
          <a:noFill/>
        </p:spPr>
        <p:txBody>
          <a:bodyPr wrap="none" lIns="0" rIns="0" tIns="0" bIns="0">
            <a:spAutoFit/>
          </a:bodyPr>
          <a:lstStyle/>
          <a:p>
            <a:pPr>
              <a:lnSpc>
                <a:spcPts val="3600"/>
              </a:lnSpc>
              <a:spcAft>
                <a:spcPts val="0"/>
              </a:spcAft>
              <a:defRPr b="0" sz="2900">
                <a:solidFill>
                  <a:srgbClr val="1C1917"/>
                </a:solidFill>
                <a:latin typeface="Bodoni Moda"/>
              </a:defRPr>
            </a:pPr>
            <a:r>
              <a:t>Fashion marketing,</a:t>
            </a:r>
          </a:p>
          <a:p>
            <a:pPr>
              <a:lnSpc>
                <a:spcPts val="3600"/>
              </a:lnSpc>
              <a:spcAft>
                <a:spcPts val="0"/>
              </a:spcAft>
              <a:defRPr b="0" sz="2900">
                <a:solidFill>
                  <a:srgbClr val="1C1917"/>
                </a:solidFill>
                <a:latin typeface="Bodoni Moda"/>
              </a:defRPr>
            </a:pPr>
            <a:r>
              <a:t>from research to production.</a:t>
            </a:r>
          </a:p>
        </p:txBody>
      </p:sp>
      <p:sp>
        <p:nvSpPr>
          <p:cNvPr id="10" name="TextBox 9"/>
          <p:cNvSpPr txBox="1"/>
          <p:nvPr/>
        </p:nvSpPr>
        <p:spPr>
          <a:xfrm>
            <a:off x="533400" y="3644900"/>
            <a:ext cx="6489700" cy="749300"/>
          </a:xfrm>
          <a:prstGeom prst="rect">
            <a:avLst/>
          </a:prstGeom>
          <a:noFill/>
        </p:spPr>
        <p:txBody>
          <a:bodyPr wrap="none" lIns="0" rIns="0" tIns="0" bIns="0">
            <a:spAutoFit/>
          </a:bodyPr>
          <a:lstStyle/>
          <a:p>
            <a:pPr>
              <a:lnSpc>
                <a:spcPts val="1800"/>
              </a:lnSpc>
              <a:spcAft>
                <a:spcPts val="0"/>
              </a:spcAft>
              <a:defRPr b="0" sz="1200">
                <a:solidFill>
                  <a:srgbClr val="1C1917"/>
                </a:solidFill>
                <a:latin typeface="DM Sans 9pt"/>
              </a:defRPr>
            </a:pPr>
            <a:r>
              <a:t>My internship brings together campaign ideation, content marketing, advertising research, and creative production. I develop concepts and social content ideas, work with fashion references, and create and revise AI-assisted visual materials.</a:t>
            </a:r>
          </a:p>
        </p:txBody>
      </p:sp>
      <p:sp>
        <p:nvSpPr>
          <p:cNvPr id="11" name="Rectangle 10"/>
          <p:cNvSpPr/>
          <p:nvPr/>
        </p:nvSpPr>
        <p:spPr>
          <a:xfrm>
            <a:off x="533400" y="51054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3400" y="5321300"/>
            <a:ext cx="2159000" cy="647700"/>
          </a:xfrm>
          <a:prstGeom prst="rect">
            <a:avLst/>
          </a:prstGeom>
          <a:noFill/>
        </p:spPr>
        <p:txBody>
          <a:bodyPr wrap="none" lIns="0" rIns="0" tIns="0" bIns="0">
            <a:spAutoFit/>
          </a:bodyPr>
          <a:lstStyle/>
          <a:p>
            <a:pPr>
              <a:lnSpc>
                <a:spcPts val="2300"/>
              </a:lnSpc>
              <a:spcAft>
                <a:spcPts val="0"/>
              </a:spcAft>
              <a:defRPr b="0" sz="1800">
                <a:solidFill>
                  <a:srgbClr val="1C1917"/>
                </a:solidFill>
                <a:latin typeface="Bodoni Moda"/>
              </a:defRPr>
            </a:pPr>
            <a:r>
              <a:t>Campaign and content ideas</a:t>
            </a:r>
          </a:p>
        </p:txBody>
      </p:sp>
      <p:sp>
        <p:nvSpPr>
          <p:cNvPr id="13" name="TextBox 12"/>
          <p:cNvSpPr txBox="1"/>
          <p:nvPr/>
        </p:nvSpPr>
        <p:spPr>
          <a:xfrm>
            <a:off x="3149600" y="5321300"/>
            <a:ext cx="3873500" cy="673100"/>
          </a:xfrm>
          <a:prstGeom prst="rect">
            <a:avLst/>
          </a:prstGeom>
          <a:noFill/>
        </p:spPr>
        <p:txBody>
          <a:bodyPr wrap="none" lIns="0" rIns="0" tIns="0" bIns="0">
            <a:spAutoFit/>
          </a:bodyPr>
          <a:lstStyle/>
          <a:p>
            <a:pPr>
              <a:lnSpc>
                <a:spcPts val="1600"/>
              </a:lnSpc>
              <a:spcAft>
                <a:spcPts val="0"/>
              </a:spcAft>
              <a:defRPr b="0" sz="1100">
                <a:solidFill>
                  <a:srgbClr val="1C1917"/>
                </a:solidFill>
                <a:latin typeface="DM Sans 9pt"/>
              </a:defRPr>
            </a:pPr>
            <a:r>
              <a:t>I develop creative concepts for fashion marketing and social media, considering the visual references and message behind the material.</a:t>
            </a:r>
          </a:p>
        </p:txBody>
      </p:sp>
      <p:sp>
        <p:nvSpPr>
          <p:cNvPr id="14" name="Rectangle 13"/>
          <p:cNvSpPr/>
          <p:nvPr/>
        </p:nvSpPr>
        <p:spPr>
          <a:xfrm>
            <a:off x="533400" y="64897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3400" y="6705600"/>
            <a:ext cx="2159000" cy="647700"/>
          </a:xfrm>
          <a:prstGeom prst="rect">
            <a:avLst/>
          </a:prstGeom>
          <a:noFill/>
        </p:spPr>
        <p:txBody>
          <a:bodyPr wrap="none" lIns="0" rIns="0" tIns="0" bIns="0">
            <a:spAutoFit/>
          </a:bodyPr>
          <a:lstStyle/>
          <a:p>
            <a:pPr>
              <a:lnSpc>
                <a:spcPts val="2300"/>
              </a:lnSpc>
              <a:spcAft>
                <a:spcPts val="0"/>
              </a:spcAft>
              <a:defRPr b="0" sz="1800">
                <a:solidFill>
                  <a:srgbClr val="1C1917"/>
                </a:solidFill>
                <a:latin typeface="Bodoni Moda"/>
              </a:defRPr>
            </a:pPr>
            <a:r>
              <a:t>Research and references</a:t>
            </a:r>
          </a:p>
        </p:txBody>
      </p:sp>
      <p:sp>
        <p:nvSpPr>
          <p:cNvPr id="16" name="TextBox 15"/>
          <p:cNvSpPr txBox="1"/>
          <p:nvPr/>
        </p:nvSpPr>
        <p:spPr>
          <a:xfrm>
            <a:off x="3149600" y="6705600"/>
            <a:ext cx="3873500" cy="673100"/>
          </a:xfrm>
          <a:prstGeom prst="rect">
            <a:avLst/>
          </a:prstGeom>
          <a:noFill/>
        </p:spPr>
        <p:txBody>
          <a:bodyPr wrap="none" lIns="0" rIns="0" tIns="0" bIns="0">
            <a:spAutoFit/>
          </a:bodyPr>
          <a:lstStyle/>
          <a:p>
            <a:pPr>
              <a:lnSpc>
                <a:spcPts val="1600"/>
              </a:lnSpc>
              <a:spcAft>
                <a:spcPts val="0"/>
              </a:spcAft>
              <a:defRPr b="0" sz="1100">
                <a:solidFill>
                  <a:srgbClr val="1C1917"/>
                </a:solidFill>
                <a:latin typeface="DM Sans 9pt"/>
              </a:defRPr>
            </a:pPr>
            <a:r>
              <a:t>I examine competitors’ marketing and advertising approaches to understand how they use creative formats, messaging, and fashion imagery.</a:t>
            </a:r>
          </a:p>
        </p:txBody>
      </p:sp>
      <p:sp>
        <p:nvSpPr>
          <p:cNvPr id="17" name="Rectangle 16"/>
          <p:cNvSpPr/>
          <p:nvPr/>
        </p:nvSpPr>
        <p:spPr>
          <a:xfrm>
            <a:off x="533400" y="78740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3400" y="8089900"/>
            <a:ext cx="2159000" cy="647700"/>
          </a:xfrm>
          <a:prstGeom prst="rect">
            <a:avLst/>
          </a:prstGeom>
          <a:noFill/>
        </p:spPr>
        <p:txBody>
          <a:bodyPr wrap="none" lIns="0" rIns="0" tIns="0" bIns="0">
            <a:spAutoFit/>
          </a:bodyPr>
          <a:lstStyle/>
          <a:p>
            <a:pPr>
              <a:lnSpc>
                <a:spcPts val="2300"/>
              </a:lnSpc>
              <a:spcAft>
                <a:spcPts val="0"/>
              </a:spcAft>
              <a:defRPr b="0" sz="1800">
                <a:solidFill>
                  <a:srgbClr val="1C1917"/>
                </a:solidFill>
                <a:latin typeface="Bodoni Moda"/>
              </a:defRPr>
            </a:pPr>
            <a:r>
              <a:t>Production and revision</a:t>
            </a:r>
          </a:p>
        </p:txBody>
      </p:sp>
      <p:sp>
        <p:nvSpPr>
          <p:cNvPr id="19" name="TextBox 18"/>
          <p:cNvSpPr txBox="1"/>
          <p:nvPr/>
        </p:nvSpPr>
        <p:spPr>
          <a:xfrm>
            <a:off x="3149600" y="8089900"/>
            <a:ext cx="3873500" cy="876300"/>
          </a:xfrm>
          <a:prstGeom prst="rect">
            <a:avLst/>
          </a:prstGeom>
          <a:noFill/>
        </p:spPr>
        <p:txBody>
          <a:bodyPr wrap="none" lIns="0" rIns="0" tIns="0" bIns="0">
            <a:spAutoFit/>
          </a:bodyPr>
          <a:lstStyle/>
          <a:p>
            <a:pPr>
              <a:lnSpc>
                <a:spcPts val="1600"/>
              </a:lnSpc>
              <a:spcAft>
                <a:spcPts val="0"/>
              </a:spcAft>
              <a:defRPr b="0" sz="1100">
                <a:solidFill>
                  <a:srgbClr val="1C1917"/>
                </a:solidFill>
                <a:latin typeface="DM Sans 9pt"/>
              </a:defRPr>
            </a:pPr>
            <a:r>
              <a:t>I work on campaign visuals and social media materials, incorporating feedback and revisions. My participation also includes exposure to influencer marketing and advertising activities.</a:t>
            </a:r>
          </a:p>
        </p:txBody>
      </p:sp>
      <p:sp>
        <p:nvSpPr>
          <p:cNvPr id="20" name="TextBox 19"/>
          <p:cNvSpPr txBox="1"/>
          <p:nvPr/>
        </p:nvSpPr>
        <p:spPr>
          <a:xfrm>
            <a:off x="533400" y="9309100"/>
            <a:ext cx="3086100" cy="254000"/>
          </a:xfrm>
          <a:prstGeom prst="rect">
            <a:avLst/>
          </a:prstGeom>
          <a:noFill/>
        </p:spPr>
        <p:txBody>
          <a:bodyPr wrap="none" lIns="0" rIns="0" tIns="0" bIns="0">
            <a:spAutoFit/>
          </a:bodyPr>
          <a:lstStyle/>
          <a:p>
            <a:pPr>
              <a:lnSpc>
                <a:spcPts val="1500"/>
              </a:lnSpc>
              <a:spcAft>
                <a:spcPts val="0"/>
              </a:spcAft>
              <a:defRPr b="1" sz="1000">
                <a:solidFill>
                  <a:srgbClr val="1C1917"/>
                </a:solidFill>
                <a:latin typeface="DM Sans 9pt"/>
              </a:defRPr>
            </a:pPr>
            <a:r>
              <a:rPr>
                <a:hlinkClick r:id="rId2"/>
              </a:rPr>
              <a:t>Visit DAXUEN</a:t>
            </a:r>
          </a:p>
        </p:txBody>
      </p:sp>
      <p:sp>
        <p:nvSpPr>
          <p:cNvPr id="21" name="Rectangle 20"/>
          <p:cNvSpPr/>
          <p:nvPr/>
        </p:nvSpPr>
        <p:spPr>
          <a:xfrm>
            <a:off x="533400" y="9525000"/>
            <a:ext cx="784225"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37000" y="9309100"/>
            <a:ext cx="3086100" cy="254000"/>
          </a:xfrm>
          <a:prstGeom prst="rect">
            <a:avLst/>
          </a:prstGeom>
          <a:noFill/>
        </p:spPr>
        <p:txBody>
          <a:bodyPr wrap="none" lIns="0" rIns="0" tIns="0" bIns="0">
            <a:spAutoFit/>
          </a:bodyPr>
          <a:lstStyle/>
          <a:p>
            <a:pPr>
              <a:lnSpc>
                <a:spcPts val="1500"/>
              </a:lnSpc>
              <a:spcAft>
                <a:spcPts val="0"/>
              </a:spcAft>
              <a:defRPr b="1" sz="1000">
                <a:solidFill>
                  <a:srgbClr val="1C1917"/>
                </a:solidFill>
                <a:latin typeface="DM Sans 9pt"/>
              </a:defRPr>
            </a:pPr>
            <a:r>
              <a:rPr>
                <a:hlinkClick r:id="rId3"/>
              </a:rPr>
              <a:t>DAXUEN on Instagram</a:t>
            </a:r>
          </a:p>
        </p:txBody>
      </p:sp>
      <p:sp>
        <p:nvSpPr>
          <p:cNvPr id="23" name="Rectangle 22"/>
          <p:cNvSpPr/>
          <p:nvPr/>
        </p:nvSpPr>
        <p:spPr>
          <a:xfrm>
            <a:off x="3937000" y="9525000"/>
            <a:ext cx="1292098"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3400" y="355600"/>
            <a:ext cx="44450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SARAH SAFWAN / PORTFOLIO 2026</a:t>
            </a:r>
          </a:p>
        </p:txBody>
      </p:sp>
      <p:sp>
        <p:nvSpPr>
          <p:cNvPr id="3" name="TextBox 2"/>
          <p:cNvSpPr txBox="1"/>
          <p:nvPr/>
        </p:nvSpPr>
        <p:spPr>
          <a:xfrm>
            <a:off x="5207000" y="355600"/>
            <a:ext cx="1816100" cy="203200"/>
          </a:xfrm>
          <a:prstGeom prst="rect">
            <a:avLst/>
          </a:prstGeom>
          <a:noFill/>
        </p:spPr>
        <p:txBody>
          <a:bodyPr wrap="none" lIns="0" rIns="0" tIns="0" bIns="0">
            <a:spAutoFit/>
          </a:bodyPr>
          <a:lstStyle/>
          <a:p>
            <a:pPr>
              <a:lnSpc>
                <a:spcPts val="1100"/>
              </a:lnSpc>
              <a:spcAft>
                <a:spcPts val="0"/>
              </a:spcAft>
              <a:defRPr b="1" sz="740">
                <a:solidFill>
                  <a:srgbClr val="57534E"/>
                </a:solidFill>
                <a:latin typeface="DM Sans 9pt"/>
              </a:defRPr>
            </a:pPr>
            <a:r>
              <a:t>DAXUEN / PRACTICE</a:t>
            </a:r>
          </a:p>
        </p:txBody>
      </p:sp>
      <p:sp>
        <p:nvSpPr>
          <p:cNvPr id="4" name="Rectangle 3"/>
          <p:cNvSpPr/>
          <p:nvPr/>
        </p:nvSpPr>
        <p:spPr>
          <a:xfrm>
            <a:off x="533400" y="6604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33400" y="101346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10274300"/>
            <a:ext cx="6350000" cy="177800"/>
          </a:xfrm>
          <a:prstGeom prst="rect">
            <a:avLst/>
          </a:prstGeom>
          <a:noFill/>
        </p:spPr>
        <p:txBody>
          <a:bodyPr wrap="none" lIns="0" rIns="0" tIns="0" bIns="0">
            <a:spAutoFit/>
          </a:bodyPr>
          <a:lstStyle/>
          <a:p>
            <a:pPr>
              <a:defRPr sz="720">
                <a:latin typeface="DM Sans 9pt"/>
              </a:defRPr>
            </a:pPr>
            <a:r>
              <a:t>Sarah Safwan / Digital Marketing &amp; Creative Specialist                                                    10 / 17</a:t>
            </a:r>
          </a:p>
        </p:txBody>
      </p:sp>
      <p:sp>
        <p:nvSpPr>
          <p:cNvPr id="7" name="TextBox 6"/>
          <p:cNvSpPr txBox="1"/>
          <p:nvPr/>
        </p:nvSpPr>
        <p:spPr>
          <a:xfrm>
            <a:off x="533400" y="1104900"/>
            <a:ext cx="6489700" cy="1079500"/>
          </a:xfrm>
          <a:prstGeom prst="rect">
            <a:avLst/>
          </a:prstGeom>
          <a:noFill/>
        </p:spPr>
        <p:txBody>
          <a:bodyPr wrap="none" lIns="0" rIns="0" tIns="0" bIns="0">
            <a:spAutoFit/>
          </a:bodyPr>
          <a:lstStyle/>
          <a:p>
            <a:pPr>
              <a:lnSpc>
                <a:spcPts val="4000"/>
              </a:lnSpc>
              <a:spcAft>
                <a:spcPts val="0"/>
              </a:spcAft>
              <a:defRPr b="0" sz="3500">
                <a:solidFill>
                  <a:srgbClr val="1C1917"/>
                </a:solidFill>
                <a:latin typeface="Bodoni Moda"/>
              </a:defRPr>
            </a:pPr>
            <a:r>
              <a:t>Developing the</a:t>
            </a:r>
          </a:p>
          <a:p>
            <a:pPr>
              <a:lnSpc>
                <a:spcPts val="4000"/>
              </a:lnSpc>
              <a:spcAft>
                <a:spcPts val="0"/>
              </a:spcAft>
              <a:defRPr b="0" sz="3500">
                <a:solidFill>
                  <a:srgbClr val="1C1917"/>
                </a:solidFill>
                <a:latin typeface="Bodoni Moda"/>
              </a:defRPr>
            </a:pPr>
            <a:r>
              <a:t>creative material</a:t>
            </a:r>
          </a:p>
        </p:txBody>
      </p:sp>
      <p:sp>
        <p:nvSpPr>
          <p:cNvPr id="8" name="TextBox 7"/>
          <p:cNvSpPr txBox="1"/>
          <p:nvPr/>
        </p:nvSpPr>
        <p:spPr>
          <a:xfrm>
            <a:off x="533400" y="2286000"/>
            <a:ext cx="6489700" cy="254000"/>
          </a:xfrm>
          <a:prstGeom prst="rect">
            <a:avLst/>
          </a:prstGeom>
          <a:noFill/>
        </p:spPr>
        <p:txBody>
          <a:bodyPr wrap="none" lIns="0" rIns="0" tIns="0" bIns="0">
            <a:spAutoFit/>
          </a:bodyPr>
          <a:lstStyle/>
          <a:p>
            <a:pPr>
              <a:lnSpc>
                <a:spcPts val="1500"/>
              </a:lnSpc>
              <a:spcAft>
                <a:spcPts val="0"/>
              </a:spcAft>
              <a:defRPr b="1" sz="1000">
                <a:solidFill>
                  <a:srgbClr val="57534E"/>
                </a:solidFill>
                <a:latin typeface="DM Sans 9pt"/>
              </a:defRPr>
            </a:pPr>
            <a:r>
              <a:t>Selected responsibilities and working approach</a:t>
            </a:r>
          </a:p>
        </p:txBody>
      </p:sp>
      <p:sp>
        <p:nvSpPr>
          <p:cNvPr id="9" name="Rectangle 8"/>
          <p:cNvSpPr/>
          <p:nvPr/>
        </p:nvSpPr>
        <p:spPr>
          <a:xfrm>
            <a:off x="533400" y="27559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3400" y="3035300"/>
            <a:ext cx="952500" cy="571500"/>
          </a:xfrm>
          <a:prstGeom prst="rect">
            <a:avLst/>
          </a:prstGeom>
          <a:noFill/>
        </p:spPr>
        <p:txBody>
          <a:bodyPr wrap="none" lIns="0" rIns="0" tIns="0" bIns="0">
            <a:spAutoFit/>
          </a:bodyPr>
          <a:lstStyle/>
          <a:p>
            <a:pPr>
              <a:lnSpc>
                <a:spcPts val="4000"/>
              </a:lnSpc>
              <a:spcAft>
                <a:spcPts val="0"/>
              </a:spcAft>
              <a:defRPr b="0" sz="3400">
                <a:solidFill>
                  <a:srgbClr val="57534E"/>
                </a:solidFill>
                <a:latin typeface="Bodoni Moda"/>
              </a:defRPr>
            </a:pPr>
            <a:r>
              <a:t>01</a:t>
            </a:r>
          </a:p>
        </p:txBody>
      </p:sp>
      <p:sp>
        <p:nvSpPr>
          <p:cNvPr id="11" name="TextBox 10"/>
          <p:cNvSpPr txBox="1"/>
          <p:nvPr/>
        </p:nvSpPr>
        <p:spPr>
          <a:xfrm>
            <a:off x="1917700" y="3009900"/>
            <a:ext cx="5105400" cy="419100"/>
          </a:xfrm>
          <a:prstGeom prst="rect">
            <a:avLst/>
          </a:prstGeom>
          <a:noFill/>
        </p:spPr>
        <p:txBody>
          <a:bodyPr wrap="none" lIns="0" rIns="0" tIns="0" bIns="0">
            <a:spAutoFit/>
          </a:bodyPr>
          <a:lstStyle/>
          <a:p>
            <a:pPr>
              <a:lnSpc>
                <a:spcPts val="2800"/>
              </a:lnSpc>
              <a:spcAft>
                <a:spcPts val="0"/>
              </a:spcAft>
              <a:defRPr b="0" sz="2200">
                <a:solidFill>
                  <a:srgbClr val="1C1917"/>
                </a:solidFill>
                <a:latin typeface="Bodoni Moda"/>
              </a:defRPr>
            </a:pPr>
            <a:r>
              <a:t>Reading the category</a:t>
            </a:r>
          </a:p>
        </p:txBody>
      </p:sp>
      <p:sp>
        <p:nvSpPr>
          <p:cNvPr id="12" name="TextBox 11"/>
          <p:cNvSpPr txBox="1"/>
          <p:nvPr/>
        </p:nvSpPr>
        <p:spPr>
          <a:xfrm>
            <a:off x="1917700" y="3530600"/>
            <a:ext cx="5105400" cy="876300"/>
          </a:xfrm>
          <a:prstGeom prst="rect">
            <a:avLst/>
          </a:prstGeom>
          <a:noFill/>
        </p:spPr>
        <p:txBody>
          <a:bodyPr wrap="none" lIns="0" rIns="0" tIns="0" bIns="0">
            <a:spAutoFit/>
          </a:bodyPr>
          <a:lstStyle/>
          <a:p>
            <a:pPr>
              <a:lnSpc>
                <a:spcPts val="1600"/>
              </a:lnSpc>
              <a:spcAft>
                <a:spcPts val="0"/>
              </a:spcAft>
              <a:defRPr b="0" sz="1100">
                <a:solidFill>
                  <a:srgbClr val="1C1917"/>
                </a:solidFill>
                <a:latin typeface="DM Sans 9pt"/>
              </a:defRPr>
            </a:pPr>
            <a:r>
              <a:t>Competitor research helps me examine how fashion brands organize their advertising and communicate their products. I focus on creative approaches, message structure, and formats rather than treating another brand’s campaign as a template to copy.</a:t>
            </a:r>
          </a:p>
        </p:txBody>
      </p:sp>
      <p:sp>
        <p:nvSpPr>
          <p:cNvPr id="13" name="Rectangle 12"/>
          <p:cNvSpPr/>
          <p:nvPr/>
        </p:nvSpPr>
        <p:spPr>
          <a:xfrm>
            <a:off x="533400" y="49530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3400" y="5232400"/>
            <a:ext cx="952500" cy="571500"/>
          </a:xfrm>
          <a:prstGeom prst="rect">
            <a:avLst/>
          </a:prstGeom>
          <a:noFill/>
        </p:spPr>
        <p:txBody>
          <a:bodyPr wrap="none" lIns="0" rIns="0" tIns="0" bIns="0">
            <a:spAutoFit/>
          </a:bodyPr>
          <a:lstStyle/>
          <a:p>
            <a:pPr>
              <a:lnSpc>
                <a:spcPts val="4000"/>
              </a:lnSpc>
              <a:spcAft>
                <a:spcPts val="0"/>
              </a:spcAft>
              <a:defRPr b="0" sz="3400">
                <a:solidFill>
                  <a:srgbClr val="57534E"/>
                </a:solidFill>
                <a:latin typeface="Bodoni Moda"/>
              </a:defRPr>
            </a:pPr>
            <a:r>
              <a:t>02</a:t>
            </a:r>
          </a:p>
        </p:txBody>
      </p:sp>
      <p:sp>
        <p:nvSpPr>
          <p:cNvPr id="15" name="TextBox 14"/>
          <p:cNvSpPr txBox="1"/>
          <p:nvPr/>
        </p:nvSpPr>
        <p:spPr>
          <a:xfrm>
            <a:off x="1917700" y="5207000"/>
            <a:ext cx="5105400" cy="419100"/>
          </a:xfrm>
          <a:prstGeom prst="rect">
            <a:avLst/>
          </a:prstGeom>
          <a:noFill/>
        </p:spPr>
        <p:txBody>
          <a:bodyPr wrap="none" lIns="0" rIns="0" tIns="0" bIns="0">
            <a:spAutoFit/>
          </a:bodyPr>
          <a:lstStyle/>
          <a:p>
            <a:pPr>
              <a:lnSpc>
                <a:spcPts val="2800"/>
              </a:lnSpc>
              <a:spcAft>
                <a:spcPts val="0"/>
              </a:spcAft>
              <a:defRPr b="0" sz="2200">
                <a:solidFill>
                  <a:srgbClr val="1C1917"/>
                </a:solidFill>
                <a:latin typeface="Bodoni Moda"/>
              </a:defRPr>
            </a:pPr>
            <a:r>
              <a:t>Working with visual references</a:t>
            </a:r>
          </a:p>
        </p:txBody>
      </p:sp>
      <p:sp>
        <p:nvSpPr>
          <p:cNvPr id="16" name="TextBox 15"/>
          <p:cNvSpPr txBox="1"/>
          <p:nvPr/>
        </p:nvSpPr>
        <p:spPr>
          <a:xfrm>
            <a:off x="1917700" y="5727700"/>
            <a:ext cx="5105400" cy="673100"/>
          </a:xfrm>
          <a:prstGeom prst="rect">
            <a:avLst/>
          </a:prstGeom>
          <a:noFill/>
        </p:spPr>
        <p:txBody>
          <a:bodyPr wrap="none" lIns="0" rIns="0" tIns="0" bIns="0">
            <a:spAutoFit/>
          </a:bodyPr>
          <a:lstStyle/>
          <a:p>
            <a:pPr>
              <a:lnSpc>
                <a:spcPts val="1600"/>
              </a:lnSpc>
              <a:spcAft>
                <a:spcPts val="0"/>
              </a:spcAft>
              <a:defRPr b="0" sz="1100">
                <a:solidFill>
                  <a:srgbClr val="1C1917"/>
                </a:solidFill>
                <a:latin typeface="DM Sans 9pt"/>
              </a:defRPr>
            </a:pPr>
            <a:r>
              <a:t>Creative references and fashion imagery support the development of campaign ideas. My AI-assisted production work is part of that process, alongside editing and the preparation of social media materials.</a:t>
            </a:r>
          </a:p>
        </p:txBody>
      </p:sp>
      <p:sp>
        <p:nvSpPr>
          <p:cNvPr id="17" name="Rectangle 16"/>
          <p:cNvSpPr/>
          <p:nvPr/>
        </p:nvSpPr>
        <p:spPr>
          <a:xfrm>
            <a:off x="533400" y="71501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3400" y="7429500"/>
            <a:ext cx="952500" cy="571500"/>
          </a:xfrm>
          <a:prstGeom prst="rect">
            <a:avLst/>
          </a:prstGeom>
          <a:noFill/>
        </p:spPr>
        <p:txBody>
          <a:bodyPr wrap="none" lIns="0" rIns="0" tIns="0" bIns="0">
            <a:spAutoFit/>
          </a:bodyPr>
          <a:lstStyle/>
          <a:p>
            <a:pPr>
              <a:lnSpc>
                <a:spcPts val="4000"/>
              </a:lnSpc>
              <a:spcAft>
                <a:spcPts val="0"/>
              </a:spcAft>
              <a:defRPr b="0" sz="3400">
                <a:solidFill>
                  <a:srgbClr val="57534E"/>
                </a:solidFill>
                <a:latin typeface="Bodoni Moda"/>
              </a:defRPr>
            </a:pPr>
            <a:r>
              <a:t>03</a:t>
            </a:r>
          </a:p>
        </p:txBody>
      </p:sp>
      <p:sp>
        <p:nvSpPr>
          <p:cNvPr id="19" name="TextBox 18"/>
          <p:cNvSpPr txBox="1"/>
          <p:nvPr/>
        </p:nvSpPr>
        <p:spPr>
          <a:xfrm>
            <a:off x="1917700" y="7404100"/>
            <a:ext cx="5105400" cy="419100"/>
          </a:xfrm>
          <a:prstGeom prst="rect">
            <a:avLst/>
          </a:prstGeom>
          <a:noFill/>
        </p:spPr>
        <p:txBody>
          <a:bodyPr wrap="none" lIns="0" rIns="0" tIns="0" bIns="0">
            <a:spAutoFit/>
          </a:bodyPr>
          <a:lstStyle/>
          <a:p>
            <a:pPr>
              <a:lnSpc>
                <a:spcPts val="2800"/>
              </a:lnSpc>
              <a:spcAft>
                <a:spcPts val="0"/>
              </a:spcAft>
              <a:defRPr b="0" sz="2200">
                <a:solidFill>
                  <a:srgbClr val="1C1917"/>
                </a:solidFill>
                <a:latin typeface="Bodoni Moda"/>
              </a:defRPr>
            </a:pPr>
            <a:r>
              <a:t>Revising for the brief</a:t>
            </a:r>
          </a:p>
        </p:txBody>
      </p:sp>
      <p:sp>
        <p:nvSpPr>
          <p:cNvPr id="20" name="TextBox 19"/>
          <p:cNvSpPr txBox="1"/>
          <p:nvPr/>
        </p:nvSpPr>
        <p:spPr>
          <a:xfrm>
            <a:off x="1917700" y="7924800"/>
            <a:ext cx="5105400" cy="673100"/>
          </a:xfrm>
          <a:prstGeom prst="rect">
            <a:avLst/>
          </a:prstGeom>
          <a:noFill/>
        </p:spPr>
        <p:txBody>
          <a:bodyPr wrap="none" lIns="0" rIns="0" tIns="0" bIns="0">
            <a:spAutoFit/>
          </a:bodyPr>
          <a:lstStyle/>
          <a:p>
            <a:pPr>
              <a:lnSpc>
                <a:spcPts val="1600"/>
              </a:lnSpc>
              <a:spcAft>
                <a:spcPts val="0"/>
              </a:spcAft>
              <a:defRPr b="0" sz="1100">
                <a:solidFill>
                  <a:srgbClr val="1C1917"/>
                </a:solidFill>
                <a:latin typeface="DM Sans 9pt"/>
              </a:defRPr>
            </a:pPr>
            <a:r>
              <a:t>Developing a visual is followed by feedback and revision. My role includes adapting campaign and social materials so the next version responds to the requirements and comments provided.</a:t>
            </a:r>
          </a:p>
        </p:txBody>
      </p:sp>
      <p:sp>
        <p:nvSpPr>
          <p:cNvPr id="21" name="TextBox 20"/>
          <p:cNvSpPr txBox="1"/>
          <p:nvPr/>
        </p:nvSpPr>
        <p:spPr>
          <a:xfrm>
            <a:off x="1917700" y="9410700"/>
            <a:ext cx="5105400" cy="673100"/>
          </a:xfrm>
          <a:prstGeom prst="rect">
            <a:avLst/>
          </a:prstGeom>
          <a:noFill/>
        </p:spPr>
        <p:txBody>
          <a:bodyPr wrap="none" lIns="0" rIns="0" tIns="0" bIns="0">
            <a:spAutoFit/>
          </a:bodyPr>
          <a:lstStyle/>
          <a:p>
            <a:pPr>
              <a:lnSpc>
                <a:spcPts val="1600"/>
              </a:lnSpc>
              <a:spcAft>
                <a:spcPts val="0"/>
              </a:spcAft>
              <a:defRPr b="0" sz="1100">
                <a:solidFill>
                  <a:srgbClr val="1C1917"/>
                </a:solidFill>
                <a:latin typeface="DM Sans 9pt"/>
              </a:defRPr>
            </a:pPr>
            <a:r>
              <a:t>This experience demonstrates research-led concept development, visual production, and the ability to revise creative material within a professional marketing setting.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3400" y="355600"/>
            <a:ext cx="44450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SARAH SAFWAN / PORTFOLIO 2026</a:t>
            </a:r>
          </a:p>
        </p:txBody>
      </p:sp>
      <p:sp>
        <p:nvSpPr>
          <p:cNvPr id="3" name="TextBox 2"/>
          <p:cNvSpPr txBox="1"/>
          <p:nvPr/>
        </p:nvSpPr>
        <p:spPr>
          <a:xfrm>
            <a:off x="5207000" y="355600"/>
            <a:ext cx="1816100" cy="203200"/>
          </a:xfrm>
          <a:prstGeom prst="rect">
            <a:avLst/>
          </a:prstGeom>
          <a:noFill/>
        </p:spPr>
        <p:txBody>
          <a:bodyPr wrap="none" lIns="0" rIns="0" tIns="0" bIns="0">
            <a:spAutoFit/>
          </a:bodyPr>
          <a:lstStyle/>
          <a:p>
            <a:pPr>
              <a:lnSpc>
                <a:spcPts val="1100"/>
              </a:lnSpc>
              <a:spcAft>
                <a:spcPts val="0"/>
              </a:spcAft>
              <a:defRPr b="1" sz="740">
                <a:solidFill>
                  <a:srgbClr val="57534E"/>
                </a:solidFill>
                <a:latin typeface="DM Sans 9pt"/>
              </a:defRPr>
            </a:pPr>
            <a:r>
              <a:t>CREATIVE PRODUCTION</a:t>
            </a:r>
          </a:p>
        </p:txBody>
      </p:sp>
      <p:sp>
        <p:nvSpPr>
          <p:cNvPr id="4" name="Rectangle 3"/>
          <p:cNvSpPr/>
          <p:nvPr/>
        </p:nvSpPr>
        <p:spPr>
          <a:xfrm>
            <a:off x="533400" y="6604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33400" y="101346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10274300"/>
            <a:ext cx="6350000" cy="177800"/>
          </a:xfrm>
          <a:prstGeom prst="rect">
            <a:avLst/>
          </a:prstGeom>
          <a:noFill/>
        </p:spPr>
        <p:txBody>
          <a:bodyPr wrap="none" lIns="0" rIns="0" tIns="0" bIns="0">
            <a:spAutoFit/>
          </a:bodyPr>
          <a:lstStyle/>
          <a:p>
            <a:pPr>
              <a:defRPr sz="720">
                <a:latin typeface="DM Sans 9pt"/>
              </a:defRPr>
            </a:pPr>
            <a:r>
              <a:t>Sarah Safwan / Digital Marketing &amp; Creative Specialist                                                    11 / 17</a:t>
            </a:r>
          </a:p>
        </p:txBody>
      </p:sp>
      <p:sp>
        <p:nvSpPr>
          <p:cNvPr id="7" name="TextBox 6"/>
          <p:cNvSpPr txBox="1"/>
          <p:nvPr/>
        </p:nvSpPr>
        <p:spPr>
          <a:xfrm>
            <a:off x="533400" y="1104900"/>
            <a:ext cx="6489700" cy="571500"/>
          </a:xfrm>
          <a:prstGeom prst="rect">
            <a:avLst/>
          </a:prstGeom>
          <a:noFill/>
        </p:spPr>
        <p:txBody>
          <a:bodyPr wrap="none" lIns="0" rIns="0" tIns="0" bIns="0">
            <a:spAutoFit/>
          </a:bodyPr>
          <a:lstStyle/>
          <a:p>
            <a:pPr>
              <a:lnSpc>
                <a:spcPts val="4000"/>
              </a:lnSpc>
              <a:spcAft>
                <a:spcPts val="0"/>
              </a:spcAft>
              <a:defRPr b="0" sz="3500">
                <a:solidFill>
                  <a:srgbClr val="1C1917"/>
                </a:solidFill>
                <a:latin typeface="Bodoni Moda"/>
              </a:defRPr>
            </a:pPr>
            <a:r>
              <a:t>BellaBelles Egypt</a:t>
            </a:r>
          </a:p>
        </p:txBody>
      </p:sp>
      <p:sp>
        <p:nvSpPr>
          <p:cNvPr id="8" name="TextBox 7"/>
          <p:cNvSpPr txBox="1"/>
          <p:nvPr/>
        </p:nvSpPr>
        <p:spPr>
          <a:xfrm>
            <a:off x="533400" y="1778000"/>
            <a:ext cx="6489700" cy="254000"/>
          </a:xfrm>
          <a:prstGeom prst="rect">
            <a:avLst/>
          </a:prstGeom>
          <a:noFill/>
        </p:spPr>
        <p:txBody>
          <a:bodyPr wrap="none" lIns="0" rIns="0" tIns="0" bIns="0">
            <a:spAutoFit/>
          </a:bodyPr>
          <a:lstStyle/>
          <a:p>
            <a:pPr>
              <a:lnSpc>
                <a:spcPts val="1500"/>
              </a:lnSpc>
              <a:spcAft>
                <a:spcPts val="0"/>
              </a:spcAft>
              <a:defRPr b="1" sz="1000">
                <a:solidFill>
                  <a:srgbClr val="57534E"/>
                </a:solidFill>
                <a:latin typeface="DM Sans 9pt"/>
              </a:defRPr>
            </a:pPr>
            <a:r>
              <a:t>Creators Program / August to September 2026</a:t>
            </a:r>
          </a:p>
        </p:txBody>
      </p:sp>
      <p:sp>
        <p:nvSpPr>
          <p:cNvPr id="9" name="TextBox 8"/>
          <p:cNvSpPr txBox="1"/>
          <p:nvPr/>
        </p:nvSpPr>
        <p:spPr>
          <a:xfrm>
            <a:off x="533400" y="2247900"/>
            <a:ext cx="6489700" cy="952500"/>
          </a:xfrm>
          <a:prstGeom prst="rect">
            <a:avLst/>
          </a:prstGeom>
          <a:noFill/>
        </p:spPr>
        <p:txBody>
          <a:bodyPr wrap="none" lIns="0" rIns="0" tIns="0" bIns="0">
            <a:spAutoFit/>
          </a:bodyPr>
          <a:lstStyle/>
          <a:p>
            <a:pPr>
              <a:lnSpc>
                <a:spcPts val="3500"/>
              </a:lnSpc>
              <a:spcAft>
                <a:spcPts val="0"/>
              </a:spcAft>
              <a:defRPr b="0" sz="2800">
                <a:solidFill>
                  <a:srgbClr val="1C1917"/>
                </a:solidFill>
                <a:latin typeface="Bodoni Moda"/>
              </a:defRPr>
            </a:pPr>
            <a:r>
              <a:t>Brand-focused content,</a:t>
            </a:r>
          </a:p>
          <a:p>
            <a:pPr>
              <a:lnSpc>
                <a:spcPts val="3500"/>
              </a:lnSpc>
              <a:spcAft>
                <a:spcPts val="0"/>
              </a:spcAft>
              <a:defRPr b="0" sz="2800">
                <a:solidFill>
                  <a:srgbClr val="1C1917"/>
                </a:solidFill>
                <a:latin typeface="Bodoni Moda"/>
              </a:defRPr>
            </a:pPr>
            <a:r>
              <a:t>prepared for a defined brief.</a:t>
            </a:r>
          </a:p>
        </p:txBody>
      </p:sp>
      <p:sp>
        <p:nvSpPr>
          <p:cNvPr id="10" name="TextBox 9"/>
          <p:cNvSpPr txBox="1"/>
          <p:nvPr/>
        </p:nvSpPr>
        <p:spPr>
          <a:xfrm>
            <a:off x="533400" y="3670300"/>
            <a:ext cx="6489700" cy="749300"/>
          </a:xfrm>
          <a:prstGeom prst="rect">
            <a:avLst/>
          </a:prstGeom>
          <a:noFill/>
        </p:spPr>
        <p:txBody>
          <a:bodyPr wrap="none" lIns="0" rIns="0" tIns="0" bIns="0">
            <a:spAutoFit/>
          </a:bodyPr>
          <a:lstStyle/>
          <a:p>
            <a:pPr>
              <a:lnSpc>
                <a:spcPts val="1800"/>
              </a:lnSpc>
              <a:spcAft>
                <a:spcPts val="0"/>
              </a:spcAft>
              <a:defRPr b="0" sz="1200">
                <a:solidFill>
                  <a:srgbClr val="1C1917"/>
                </a:solidFill>
                <a:latin typeface="DM Sans 9pt"/>
              </a:defRPr>
            </a:pPr>
            <a:r>
              <a:t>I participated in BellaBelles Egypt’s creators program, planning, producing, and delivering visual content according to the brand’s requirements. The work centered on the products and brief provided, with agreed creative materials prepared for delivery.</a:t>
            </a:r>
          </a:p>
        </p:txBody>
      </p:sp>
      <p:sp>
        <p:nvSpPr>
          <p:cNvPr id="11" name="Rectangle 10"/>
          <p:cNvSpPr/>
          <p:nvPr/>
        </p:nvSpPr>
        <p:spPr>
          <a:xfrm>
            <a:off x="533400" y="51943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3400" y="5435600"/>
            <a:ext cx="2222500" cy="406400"/>
          </a:xfrm>
          <a:prstGeom prst="rect">
            <a:avLst/>
          </a:prstGeom>
          <a:noFill/>
        </p:spPr>
        <p:txBody>
          <a:bodyPr wrap="none" lIns="0" rIns="0" tIns="0" bIns="0">
            <a:spAutoFit/>
          </a:bodyPr>
          <a:lstStyle/>
          <a:p>
            <a:pPr>
              <a:lnSpc>
                <a:spcPts val="2700"/>
              </a:lnSpc>
              <a:spcAft>
                <a:spcPts val="0"/>
              </a:spcAft>
              <a:defRPr b="0" sz="2100">
                <a:solidFill>
                  <a:srgbClr val="1C1917"/>
                </a:solidFill>
                <a:latin typeface="Bodoni Moda"/>
              </a:defRPr>
            </a:pPr>
            <a:r>
              <a:t>Planning</a:t>
            </a:r>
          </a:p>
        </p:txBody>
      </p:sp>
      <p:sp>
        <p:nvSpPr>
          <p:cNvPr id="13" name="TextBox 12"/>
          <p:cNvSpPr txBox="1"/>
          <p:nvPr/>
        </p:nvSpPr>
        <p:spPr>
          <a:xfrm>
            <a:off x="3149600" y="5435600"/>
            <a:ext cx="3873500" cy="469900"/>
          </a:xfrm>
          <a:prstGeom prst="rect">
            <a:avLst/>
          </a:prstGeom>
          <a:noFill/>
        </p:spPr>
        <p:txBody>
          <a:bodyPr wrap="none" lIns="0" rIns="0" tIns="0" bIns="0">
            <a:spAutoFit/>
          </a:bodyPr>
          <a:lstStyle/>
          <a:p>
            <a:pPr>
              <a:lnSpc>
                <a:spcPts val="1600"/>
              </a:lnSpc>
              <a:spcAft>
                <a:spcPts val="0"/>
              </a:spcAft>
              <a:defRPr b="0" sz="1100">
                <a:solidFill>
                  <a:srgbClr val="1C1917"/>
                </a:solidFill>
                <a:latin typeface="DM Sans 9pt"/>
              </a:defRPr>
            </a:pPr>
            <a:r>
              <a:t>Developing content around the products and requirements supplied by the brand.</a:t>
            </a:r>
          </a:p>
        </p:txBody>
      </p:sp>
      <p:sp>
        <p:nvSpPr>
          <p:cNvPr id="14" name="Rectangle 13"/>
          <p:cNvSpPr/>
          <p:nvPr/>
        </p:nvSpPr>
        <p:spPr>
          <a:xfrm>
            <a:off x="533400" y="64389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3400" y="6680200"/>
            <a:ext cx="2222500" cy="406400"/>
          </a:xfrm>
          <a:prstGeom prst="rect">
            <a:avLst/>
          </a:prstGeom>
          <a:noFill/>
        </p:spPr>
        <p:txBody>
          <a:bodyPr wrap="none" lIns="0" rIns="0" tIns="0" bIns="0">
            <a:spAutoFit/>
          </a:bodyPr>
          <a:lstStyle/>
          <a:p>
            <a:pPr>
              <a:lnSpc>
                <a:spcPts val="2700"/>
              </a:lnSpc>
              <a:spcAft>
                <a:spcPts val="0"/>
              </a:spcAft>
              <a:defRPr b="0" sz="2100">
                <a:solidFill>
                  <a:srgbClr val="1C1917"/>
                </a:solidFill>
                <a:latin typeface="Bodoni Moda"/>
              </a:defRPr>
            </a:pPr>
            <a:r>
              <a:t>Production</a:t>
            </a:r>
          </a:p>
        </p:txBody>
      </p:sp>
      <p:sp>
        <p:nvSpPr>
          <p:cNvPr id="16" name="TextBox 15"/>
          <p:cNvSpPr txBox="1"/>
          <p:nvPr/>
        </p:nvSpPr>
        <p:spPr>
          <a:xfrm>
            <a:off x="3149600" y="6680200"/>
            <a:ext cx="3873500" cy="469900"/>
          </a:xfrm>
          <a:prstGeom prst="rect">
            <a:avLst/>
          </a:prstGeom>
          <a:noFill/>
        </p:spPr>
        <p:txBody>
          <a:bodyPr wrap="none" lIns="0" rIns="0" tIns="0" bIns="0">
            <a:spAutoFit/>
          </a:bodyPr>
          <a:lstStyle/>
          <a:p>
            <a:pPr>
              <a:lnSpc>
                <a:spcPts val="1600"/>
              </a:lnSpc>
              <a:spcAft>
                <a:spcPts val="0"/>
              </a:spcAft>
              <a:defRPr b="0" sz="1100">
                <a:solidFill>
                  <a:srgbClr val="1C1917"/>
                </a:solidFill>
                <a:latin typeface="DM Sans 9pt"/>
              </a:defRPr>
            </a:pPr>
            <a:r>
              <a:t>Creating brand-focused visual material for the program’s agreed deliverables.</a:t>
            </a:r>
          </a:p>
        </p:txBody>
      </p:sp>
      <p:sp>
        <p:nvSpPr>
          <p:cNvPr id="17" name="Rectangle 16"/>
          <p:cNvSpPr/>
          <p:nvPr/>
        </p:nvSpPr>
        <p:spPr>
          <a:xfrm>
            <a:off x="533400" y="76835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3400" y="7924800"/>
            <a:ext cx="2222500" cy="406400"/>
          </a:xfrm>
          <a:prstGeom prst="rect">
            <a:avLst/>
          </a:prstGeom>
          <a:noFill/>
        </p:spPr>
        <p:txBody>
          <a:bodyPr wrap="none" lIns="0" rIns="0" tIns="0" bIns="0">
            <a:spAutoFit/>
          </a:bodyPr>
          <a:lstStyle/>
          <a:p>
            <a:pPr>
              <a:lnSpc>
                <a:spcPts val="2700"/>
              </a:lnSpc>
              <a:spcAft>
                <a:spcPts val="0"/>
              </a:spcAft>
              <a:defRPr b="0" sz="2100">
                <a:solidFill>
                  <a:srgbClr val="1C1917"/>
                </a:solidFill>
                <a:latin typeface="Bodoni Moda"/>
              </a:defRPr>
            </a:pPr>
            <a:r>
              <a:t>Delivery</a:t>
            </a:r>
          </a:p>
        </p:txBody>
      </p:sp>
      <p:sp>
        <p:nvSpPr>
          <p:cNvPr id="19" name="TextBox 18"/>
          <p:cNvSpPr txBox="1"/>
          <p:nvPr/>
        </p:nvSpPr>
        <p:spPr>
          <a:xfrm>
            <a:off x="3149600" y="7924800"/>
            <a:ext cx="3873500" cy="469900"/>
          </a:xfrm>
          <a:prstGeom prst="rect">
            <a:avLst/>
          </a:prstGeom>
          <a:noFill/>
        </p:spPr>
        <p:txBody>
          <a:bodyPr wrap="none" lIns="0" rIns="0" tIns="0" bIns="0">
            <a:spAutoFit/>
          </a:bodyPr>
          <a:lstStyle/>
          <a:p>
            <a:pPr>
              <a:lnSpc>
                <a:spcPts val="1600"/>
              </a:lnSpc>
              <a:spcAft>
                <a:spcPts val="0"/>
              </a:spcAft>
              <a:defRPr b="0" sz="1100">
                <a:solidFill>
                  <a:srgbClr val="1C1917"/>
                </a:solidFill>
                <a:latin typeface="DM Sans 9pt"/>
              </a:defRPr>
            </a:pPr>
            <a:r>
              <a:t>Completing and submitting the creative materials required by the program.</a:t>
            </a:r>
          </a:p>
        </p:txBody>
      </p:sp>
      <p:sp>
        <p:nvSpPr>
          <p:cNvPr id="20" name="TextBox 19"/>
          <p:cNvSpPr txBox="1"/>
          <p:nvPr/>
        </p:nvSpPr>
        <p:spPr>
          <a:xfrm>
            <a:off x="533400" y="8686800"/>
            <a:ext cx="6489700" cy="254000"/>
          </a:xfrm>
          <a:prstGeom prst="rect">
            <a:avLst/>
          </a:prstGeom>
          <a:noFill/>
        </p:spPr>
        <p:txBody>
          <a:bodyPr wrap="none" lIns="0" rIns="0" tIns="0" bIns="0">
            <a:spAutoFit/>
          </a:bodyPr>
          <a:lstStyle/>
          <a:p>
            <a:pPr>
              <a:lnSpc>
                <a:spcPts val="1500"/>
              </a:lnSpc>
              <a:spcAft>
                <a:spcPts val="0"/>
              </a:spcAft>
              <a:defRPr b="0" sz="1000">
                <a:solidFill>
                  <a:srgbClr val="57534E"/>
                </a:solidFill>
                <a:latin typeface="DM Sans 9pt"/>
              </a:defRPr>
            </a:pPr>
            <a:r>
              <a:t>This was participation in a creators program, rather than an employee or marketing-management role.</a:t>
            </a:r>
          </a:p>
        </p:txBody>
      </p:sp>
      <p:sp>
        <p:nvSpPr>
          <p:cNvPr id="21" name="TextBox 20"/>
          <p:cNvSpPr txBox="1"/>
          <p:nvPr/>
        </p:nvSpPr>
        <p:spPr>
          <a:xfrm>
            <a:off x="533400" y="9321800"/>
            <a:ext cx="3086100" cy="254000"/>
          </a:xfrm>
          <a:prstGeom prst="rect">
            <a:avLst/>
          </a:prstGeom>
          <a:noFill/>
        </p:spPr>
        <p:txBody>
          <a:bodyPr wrap="none" lIns="0" rIns="0" tIns="0" bIns="0">
            <a:spAutoFit/>
          </a:bodyPr>
          <a:lstStyle/>
          <a:p>
            <a:pPr>
              <a:lnSpc>
                <a:spcPts val="1500"/>
              </a:lnSpc>
              <a:spcAft>
                <a:spcPts val="0"/>
              </a:spcAft>
              <a:defRPr b="1" sz="1000">
                <a:solidFill>
                  <a:srgbClr val="1C1917"/>
                </a:solidFill>
                <a:latin typeface="DM Sans 9pt"/>
              </a:defRPr>
            </a:pPr>
            <a:r>
              <a:rPr>
                <a:hlinkClick r:id="rId2"/>
              </a:rPr>
              <a:t>Visit BellaBelles Egypt</a:t>
            </a:r>
          </a:p>
        </p:txBody>
      </p:sp>
      <p:sp>
        <p:nvSpPr>
          <p:cNvPr id="22" name="Rectangle 21"/>
          <p:cNvSpPr/>
          <p:nvPr/>
        </p:nvSpPr>
        <p:spPr>
          <a:xfrm>
            <a:off x="533400" y="9537700"/>
            <a:ext cx="128524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37000" y="9321800"/>
            <a:ext cx="3086100" cy="254000"/>
          </a:xfrm>
          <a:prstGeom prst="rect">
            <a:avLst/>
          </a:prstGeom>
          <a:noFill/>
        </p:spPr>
        <p:txBody>
          <a:bodyPr wrap="none" lIns="0" rIns="0" tIns="0" bIns="0">
            <a:spAutoFit/>
          </a:bodyPr>
          <a:lstStyle/>
          <a:p>
            <a:pPr>
              <a:lnSpc>
                <a:spcPts val="1500"/>
              </a:lnSpc>
              <a:spcAft>
                <a:spcPts val="0"/>
              </a:spcAft>
              <a:defRPr b="1" sz="1000">
                <a:solidFill>
                  <a:srgbClr val="1C1917"/>
                </a:solidFill>
                <a:latin typeface="DM Sans 9pt"/>
              </a:defRPr>
            </a:pPr>
            <a:r>
              <a:rPr>
                <a:hlinkClick r:id="rId3"/>
              </a:rPr>
              <a:t>BellaBelles on Instagram</a:t>
            </a:r>
          </a:p>
        </p:txBody>
      </p:sp>
      <p:sp>
        <p:nvSpPr>
          <p:cNvPr id="24" name="Rectangle 23"/>
          <p:cNvSpPr/>
          <p:nvPr/>
        </p:nvSpPr>
        <p:spPr>
          <a:xfrm>
            <a:off x="3937000" y="9537700"/>
            <a:ext cx="1416812"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3400" y="355600"/>
            <a:ext cx="44450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SARAH SAFWAN / PORTFOLIO 2026</a:t>
            </a:r>
          </a:p>
        </p:txBody>
      </p:sp>
      <p:sp>
        <p:nvSpPr>
          <p:cNvPr id="3" name="TextBox 2"/>
          <p:cNvSpPr txBox="1"/>
          <p:nvPr/>
        </p:nvSpPr>
        <p:spPr>
          <a:xfrm>
            <a:off x="5207000" y="355600"/>
            <a:ext cx="1816100" cy="203200"/>
          </a:xfrm>
          <a:prstGeom prst="rect">
            <a:avLst/>
          </a:prstGeom>
          <a:noFill/>
        </p:spPr>
        <p:txBody>
          <a:bodyPr wrap="none" lIns="0" rIns="0" tIns="0" bIns="0">
            <a:spAutoFit/>
          </a:bodyPr>
          <a:lstStyle/>
          <a:p>
            <a:pPr>
              <a:lnSpc>
                <a:spcPts val="1100"/>
              </a:lnSpc>
              <a:spcAft>
                <a:spcPts val="0"/>
              </a:spcAft>
              <a:defRPr b="1" sz="740">
                <a:solidFill>
                  <a:srgbClr val="57534E"/>
                </a:solidFill>
                <a:latin typeface="DM Sans 9pt"/>
              </a:defRPr>
            </a:pPr>
            <a:r>
              <a:t>INDEPENDENT PUBLISHING</a:t>
            </a:r>
          </a:p>
        </p:txBody>
      </p:sp>
      <p:sp>
        <p:nvSpPr>
          <p:cNvPr id="4" name="Rectangle 3"/>
          <p:cNvSpPr/>
          <p:nvPr/>
        </p:nvSpPr>
        <p:spPr>
          <a:xfrm>
            <a:off x="533400" y="6604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33400" y="101346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10274300"/>
            <a:ext cx="6350000" cy="177800"/>
          </a:xfrm>
          <a:prstGeom prst="rect">
            <a:avLst/>
          </a:prstGeom>
          <a:noFill/>
        </p:spPr>
        <p:txBody>
          <a:bodyPr wrap="none" lIns="0" rIns="0" tIns="0" bIns="0">
            <a:spAutoFit/>
          </a:bodyPr>
          <a:lstStyle/>
          <a:p>
            <a:pPr>
              <a:defRPr sz="720">
                <a:latin typeface="DM Sans 9pt"/>
              </a:defRPr>
            </a:pPr>
            <a:r>
              <a:t>Sarah Safwan / Digital Marketing &amp; Creative Specialist                                                    12 / 17</a:t>
            </a:r>
          </a:p>
        </p:txBody>
      </p:sp>
      <p:sp>
        <p:nvSpPr>
          <p:cNvPr id="7" name="TextBox 6"/>
          <p:cNvSpPr txBox="1"/>
          <p:nvPr/>
        </p:nvSpPr>
        <p:spPr>
          <a:xfrm>
            <a:off x="533400" y="1104900"/>
            <a:ext cx="6489700" cy="571500"/>
          </a:xfrm>
          <a:prstGeom prst="rect">
            <a:avLst/>
          </a:prstGeom>
          <a:noFill/>
        </p:spPr>
        <p:txBody>
          <a:bodyPr wrap="none" lIns="0" rIns="0" tIns="0" bIns="0">
            <a:spAutoFit/>
          </a:bodyPr>
          <a:lstStyle/>
          <a:p>
            <a:pPr>
              <a:lnSpc>
                <a:spcPts val="4000"/>
              </a:lnSpc>
              <a:spcAft>
                <a:spcPts val="0"/>
              </a:spcAft>
              <a:defRPr b="0" sz="3500">
                <a:solidFill>
                  <a:srgbClr val="1C1917"/>
                </a:solidFill>
                <a:latin typeface="Bodoni Moda"/>
              </a:defRPr>
            </a:pPr>
            <a:r>
              <a:t>Thy Academia</a:t>
            </a:r>
          </a:p>
        </p:txBody>
      </p:sp>
      <p:sp>
        <p:nvSpPr>
          <p:cNvPr id="8" name="TextBox 7"/>
          <p:cNvSpPr txBox="1"/>
          <p:nvPr/>
        </p:nvSpPr>
        <p:spPr>
          <a:xfrm>
            <a:off x="533400" y="1778000"/>
            <a:ext cx="6489700" cy="254000"/>
          </a:xfrm>
          <a:prstGeom prst="rect">
            <a:avLst/>
          </a:prstGeom>
          <a:noFill/>
        </p:spPr>
        <p:txBody>
          <a:bodyPr wrap="none" lIns="0" rIns="0" tIns="0" bIns="0">
            <a:spAutoFit/>
          </a:bodyPr>
          <a:lstStyle/>
          <a:p>
            <a:pPr>
              <a:lnSpc>
                <a:spcPts val="1500"/>
              </a:lnSpc>
              <a:spcAft>
                <a:spcPts val="0"/>
              </a:spcAft>
              <a:defRPr b="1" sz="1000">
                <a:solidFill>
                  <a:srgbClr val="57534E"/>
                </a:solidFill>
                <a:latin typeface="DM Sans 9pt"/>
              </a:defRPr>
            </a:pPr>
            <a:r>
              <a:t>Founder / 2022 to 2025 / Completed project</a:t>
            </a:r>
          </a:p>
        </p:txBody>
      </p:sp>
      <p:sp>
        <p:nvSpPr>
          <p:cNvPr id="9" name="TextBox 8"/>
          <p:cNvSpPr txBox="1"/>
          <p:nvPr/>
        </p:nvSpPr>
        <p:spPr>
          <a:xfrm>
            <a:off x="533400" y="2247900"/>
            <a:ext cx="6489700" cy="1003300"/>
          </a:xfrm>
          <a:prstGeom prst="rect">
            <a:avLst/>
          </a:prstGeom>
          <a:noFill/>
        </p:spPr>
        <p:txBody>
          <a:bodyPr wrap="none" lIns="0" rIns="0" tIns="0" bIns="0">
            <a:spAutoFit/>
          </a:bodyPr>
          <a:lstStyle/>
          <a:p>
            <a:pPr>
              <a:lnSpc>
                <a:spcPts val="3700"/>
              </a:lnSpc>
              <a:spcAft>
                <a:spcPts val="0"/>
              </a:spcAft>
              <a:defRPr b="0" sz="3000">
                <a:solidFill>
                  <a:srgbClr val="1C1917"/>
                </a:solidFill>
                <a:latin typeface="Bodoni Moda"/>
              </a:defRPr>
            </a:pPr>
            <a:r>
              <a:t>Educational content</a:t>
            </a:r>
          </a:p>
          <a:p>
            <a:pPr>
              <a:lnSpc>
                <a:spcPts val="3700"/>
              </a:lnSpc>
              <a:spcAft>
                <a:spcPts val="0"/>
              </a:spcAft>
              <a:defRPr b="0" sz="3000">
                <a:solidFill>
                  <a:srgbClr val="1C1917"/>
                </a:solidFill>
                <a:latin typeface="Bodoni Moda"/>
              </a:defRPr>
            </a:pPr>
            <a:r>
              <a:t>with student life in view.</a:t>
            </a:r>
          </a:p>
        </p:txBody>
      </p:sp>
      <p:sp>
        <p:nvSpPr>
          <p:cNvPr id="10" name="TextBox 9"/>
          <p:cNvSpPr txBox="1"/>
          <p:nvPr/>
        </p:nvSpPr>
        <p:spPr>
          <a:xfrm>
            <a:off x="533400" y="3759200"/>
            <a:ext cx="6489700" cy="977900"/>
          </a:xfrm>
          <a:prstGeom prst="rect">
            <a:avLst/>
          </a:prstGeom>
          <a:noFill/>
        </p:spPr>
        <p:txBody>
          <a:bodyPr wrap="none" lIns="0" rIns="0" tIns="0" bIns="0">
            <a:spAutoFit/>
          </a:bodyPr>
          <a:lstStyle/>
          <a:p>
            <a:pPr>
              <a:lnSpc>
                <a:spcPts val="1800"/>
              </a:lnSpc>
              <a:spcAft>
                <a:spcPts val="0"/>
              </a:spcAft>
              <a:defRPr b="0" sz="1200">
                <a:solidFill>
                  <a:srgbClr val="1C1917"/>
                </a:solidFill>
                <a:latin typeface="DM Sans 9pt"/>
              </a:defRPr>
            </a:pPr>
            <a:r>
              <a:t>Thy Academia was an independent educational platform I founded and managed. Its content covered academic life, studying, productivity, and student wellbeing. I researched topics, wrote and published educational material, and managed the content across Instagram and Medium.</a:t>
            </a:r>
          </a:p>
        </p:txBody>
      </p:sp>
      <p:sp>
        <p:nvSpPr>
          <p:cNvPr id="11" name="Rectangle 10"/>
          <p:cNvSpPr/>
          <p:nvPr/>
        </p:nvSpPr>
        <p:spPr>
          <a:xfrm>
            <a:off x="533400" y="53848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3400" y="5600700"/>
            <a:ext cx="2209800" cy="698500"/>
          </a:xfrm>
          <a:prstGeom prst="rect">
            <a:avLst/>
          </a:prstGeom>
          <a:noFill/>
        </p:spPr>
        <p:txBody>
          <a:bodyPr wrap="none" lIns="0" rIns="0" tIns="0" bIns="0">
            <a:spAutoFit/>
          </a:bodyPr>
          <a:lstStyle/>
          <a:p>
            <a:pPr>
              <a:lnSpc>
                <a:spcPts val="2500"/>
              </a:lnSpc>
              <a:spcAft>
                <a:spcPts val="0"/>
              </a:spcAft>
              <a:defRPr b="0" sz="2000">
                <a:solidFill>
                  <a:srgbClr val="1C1917"/>
                </a:solidFill>
                <a:latin typeface="Bodoni Moda"/>
              </a:defRPr>
            </a:pPr>
            <a:r>
              <a:t>Research and writing</a:t>
            </a:r>
          </a:p>
        </p:txBody>
      </p:sp>
      <p:sp>
        <p:nvSpPr>
          <p:cNvPr id="13" name="TextBox 12"/>
          <p:cNvSpPr txBox="1"/>
          <p:nvPr/>
        </p:nvSpPr>
        <p:spPr>
          <a:xfrm>
            <a:off x="3149600" y="5600700"/>
            <a:ext cx="3873500" cy="469900"/>
          </a:xfrm>
          <a:prstGeom prst="rect">
            <a:avLst/>
          </a:prstGeom>
          <a:noFill/>
        </p:spPr>
        <p:txBody>
          <a:bodyPr wrap="none" lIns="0" rIns="0" tIns="0" bIns="0">
            <a:spAutoFit/>
          </a:bodyPr>
          <a:lstStyle/>
          <a:p>
            <a:pPr>
              <a:lnSpc>
                <a:spcPts val="1600"/>
              </a:lnSpc>
              <a:spcAft>
                <a:spcPts val="0"/>
              </a:spcAft>
              <a:defRPr b="0" sz="1100">
                <a:solidFill>
                  <a:srgbClr val="1C1917"/>
                </a:solidFill>
                <a:latin typeface="DM Sans 9pt"/>
              </a:defRPr>
            </a:pPr>
            <a:r>
              <a:t>Developing educational subjects and turning research into writing that students could understand and use.</a:t>
            </a:r>
          </a:p>
        </p:txBody>
      </p:sp>
      <p:sp>
        <p:nvSpPr>
          <p:cNvPr id="14" name="Rectangle 13"/>
          <p:cNvSpPr/>
          <p:nvPr/>
        </p:nvSpPr>
        <p:spPr>
          <a:xfrm>
            <a:off x="533400" y="67183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3400" y="6934200"/>
            <a:ext cx="2209800" cy="381000"/>
          </a:xfrm>
          <a:prstGeom prst="rect">
            <a:avLst/>
          </a:prstGeom>
          <a:noFill/>
        </p:spPr>
        <p:txBody>
          <a:bodyPr wrap="none" lIns="0" rIns="0" tIns="0" bIns="0">
            <a:spAutoFit/>
          </a:bodyPr>
          <a:lstStyle/>
          <a:p>
            <a:pPr>
              <a:lnSpc>
                <a:spcPts val="2500"/>
              </a:lnSpc>
              <a:spcAft>
                <a:spcPts val="0"/>
              </a:spcAft>
              <a:defRPr b="0" sz="2000">
                <a:solidFill>
                  <a:srgbClr val="1C1917"/>
                </a:solidFill>
                <a:latin typeface="Bodoni Moda"/>
              </a:defRPr>
            </a:pPr>
            <a:r>
              <a:t>Editorial direction</a:t>
            </a:r>
          </a:p>
        </p:txBody>
      </p:sp>
      <p:sp>
        <p:nvSpPr>
          <p:cNvPr id="16" name="TextBox 15"/>
          <p:cNvSpPr txBox="1"/>
          <p:nvPr/>
        </p:nvSpPr>
        <p:spPr>
          <a:xfrm>
            <a:off x="3149600" y="6934200"/>
            <a:ext cx="3873500" cy="469900"/>
          </a:xfrm>
          <a:prstGeom prst="rect">
            <a:avLst/>
          </a:prstGeom>
          <a:noFill/>
        </p:spPr>
        <p:txBody>
          <a:bodyPr wrap="none" lIns="0" rIns="0" tIns="0" bIns="0">
            <a:spAutoFit/>
          </a:bodyPr>
          <a:lstStyle/>
          <a:p>
            <a:pPr>
              <a:lnSpc>
                <a:spcPts val="1600"/>
              </a:lnSpc>
              <a:spcAft>
                <a:spcPts val="0"/>
              </a:spcAft>
              <a:defRPr b="0" sz="1100">
                <a:solidFill>
                  <a:srgbClr val="1C1917"/>
                </a:solidFill>
                <a:latin typeface="DM Sans 9pt"/>
              </a:defRPr>
            </a:pPr>
            <a:r>
              <a:t>Planning content, choosing topics, and organizing the publication’s written and visual communication.</a:t>
            </a:r>
          </a:p>
        </p:txBody>
      </p:sp>
      <p:sp>
        <p:nvSpPr>
          <p:cNvPr id="17" name="Rectangle 16"/>
          <p:cNvSpPr/>
          <p:nvPr/>
        </p:nvSpPr>
        <p:spPr>
          <a:xfrm>
            <a:off x="533400" y="80518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3400" y="8267700"/>
            <a:ext cx="2209800" cy="698500"/>
          </a:xfrm>
          <a:prstGeom prst="rect">
            <a:avLst/>
          </a:prstGeom>
          <a:noFill/>
        </p:spPr>
        <p:txBody>
          <a:bodyPr wrap="none" lIns="0" rIns="0" tIns="0" bIns="0">
            <a:spAutoFit/>
          </a:bodyPr>
          <a:lstStyle/>
          <a:p>
            <a:pPr>
              <a:lnSpc>
                <a:spcPts val="2500"/>
              </a:lnSpc>
              <a:spcAft>
                <a:spcPts val="0"/>
              </a:spcAft>
              <a:defRPr b="0" sz="2000">
                <a:solidFill>
                  <a:srgbClr val="1C1917"/>
                </a:solidFill>
                <a:latin typeface="Bodoni Moda"/>
              </a:defRPr>
            </a:pPr>
            <a:r>
              <a:t>Independent management</a:t>
            </a:r>
          </a:p>
        </p:txBody>
      </p:sp>
      <p:sp>
        <p:nvSpPr>
          <p:cNvPr id="19" name="TextBox 18"/>
          <p:cNvSpPr txBox="1"/>
          <p:nvPr/>
        </p:nvSpPr>
        <p:spPr>
          <a:xfrm>
            <a:off x="3149600" y="8267700"/>
            <a:ext cx="3873500" cy="469900"/>
          </a:xfrm>
          <a:prstGeom prst="rect">
            <a:avLst/>
          </a:prstGeom>
          <a:noFill/>
        </p:spPr>
        <p:txBody>
          <a:bodyPr wrap="none" lIns="0" rIns="0" tIns="0" bIns="0">
            <a:spAutoFit/>
          </a:bodyPr>
          <a:lstStyle/>
          <a:p>
            <a:pPr>
              <a:lnSpc>
                <a:spcPts val="1600"/>
              </a:lnSpc>
              <a:spcAft>
                <a:spcPts val="0"/>
              </a:spcAft>
              <a:defRPr b="0" sz="1100">
                <a:solidFill>
                  <a:srgbClr val="1C1917"/>
                </a:solidFill>
                <a:latin typeface="DM Sans 9pt"/>
              </a:defRPr>
            </a:pPr>
            <a:r>
              <a:t>Taking responsibility for the platform’s content planning, production, and publishing as its founder.</a:t>
            </a:r>
          </a:p>
        </p:txBody>
      </p:sp>
      <p:sp>
        <p:nvSpPr>
          <p:cNvPr id="20" name="TextBox 19"/>
          <p:cNvSpPr txBox="1"/>
          <p:nvPr/>
        </p:nvSpPr>
        <p:spPr>
          <a:xfrm>
            <a:off x="533400" y="9334500"/>
            <a:ext cx="3086100" cy="254000"/>
          </a:xfrm>
          <a:prstGeom prst="rect">
            <a:avLst/>
          </a:prstGeom>
          <a:noFill/>
        </p:spPr>
        <p:txBody>
          <a:bodyPr wrap="none" lIns="0" rIns="0" tIns="0" bIns="0">
            <a:spAutoFit/>
          </a:bodyPr>
          <a:lstStyle/>
          <a:p>
            <a:pPr>
              <a:lnSpc>
                <a:spcPts val="1500"/>
              </a:lnSpc>
              <a:spcAft>
                <a:spcPts val="0"/>
              </a:spcAft>
              <a:defRPr b="1" sz="1000">
                <a:solidFill>
                  <a:srgbClr val="1C1917"/>
                </a:solidFill>
                <a:latin typeface="DM Sans 9pt"/>
              </a:defRPr>
            </a:pPr>
            <a:r>
              <a:rPr>
                <a:hlinkClick r:id="rId2"/>
              </a:rPr>
              <a:t>Thy Academia on Instagram</a:t>
            </a:r>
          </a:p>
        </p:txBody>
      </p:sp>
      <p:sp>
        <p:nvSpPr>
          <p:cNvPr id="21" name="Rectangle 20"/>
          <p:cNvSpPr/>
          <p:nvPr/>
        </p:nvSpPr>
        <p:spPr>
          <a:xfrm>
            <a:off x="533400" y="9550400"/>
            <a:ext cx="1640332"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37000" y="9334500"/>
            <a:ext cx="3086100" cy="254000"/>
          </a:xfrm>
          <a:prstGeom prst="rect">
            <a:avLst/>
          </a:prstGeom>
          <a:noFill/>
        </p:spPr>
        <p:txBody>
          <a:bodyPr wrap="none" lIns="0" rIns="0" tIns="0" bIns="0">
            <a:spAutoFit/>
          </a:bodyPr>
          <a:lstStyle/>
          <a:p>
            <a:pPr>
              <a:lnSpc>
                <a:spcPts val="1500"/>
              </a:lnSpc>
              <a:spcAft>
                <a:spcPts val="0"/>
              </a:spcAft>
              <a:defRPr b="1" sz="1000">
                <a:solidFill>
                  <a:srgbClr val="1C1917"/>
                </a:solidFill>
                <a:latin typeface="DM Sans 9pt"/>
              </a:defRPr>
            </a:pPr>
            <a:r>
              <a:rPr>
                <a:hlinkClick r:id="rId3"/>
              </a:rPr>
              <a:t>Read on Medium</a:t>
            </a:r>
          </a:p>
        </p:txBody>
      </p:sp>
      <p:sp>
        <p:nvSpPr>
          <p:cNvPr id="23" name="Rectangle 22"/>
          <p:cNvSpPr/>
          <p:nvPr/>
        </p:nvSpPr>
        <p:spPr>
          <a:xfrm>
            <a:off x="3937000" y="9550400"/>
            <a:ext cx="987044"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3400" y="355600"/>
            <a:ext cx="44450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SARAH SAFWAN / PORTFOLIO 2026</a:t>
            </a:r>
          </a:p>
        </p:txBody>
      </p:sp>
      <p:sp>
        <p:nvSpPr>
          <p:cNvPr id="3" name="TextBox 2"/>
          <p:cNvSpPr txBox="1"/>
          <p:nvPr/>
        </p:nvSpPr>
        <p:spPr>
          <a:xfrm>
            <a:off x="5207000" y="355600"/>
            <a:ext cx="1816100" cy="203200"/>
          </a:xfrm>
          <a:prstGeom prst="rect">
            <a:avLst/>
          </a:prstGeom>
          <a:noFill/>
        </p:spPr>
        <p:txBody>
          <a:bodyPr wrap="none" lIns="0" rIns="0" tIns="0" bIns="0">
            <a:spAutoFit/>
          </a:bodyPr>
          <a:lstStyle/>
          <a:p>
            <a:pPr>
              <a:lnSpc>
                <a:spcPts val="1100"/>
              </a:lnSpc>
              <a:spcAft>
                <a:spcPts val="0"/>
              </a:spcAft>
              <a:defRPr b="1" sz="740">
                <a:solidFill>
                  <a:srgbClr val="57534E"/>
                </a:solidFill>
                <a:latin typeface="DM Sans 9pt"/>
              </a:defRPr>
            </a:pPr>
            <a:r>
              <a:t>THY ACADEMIA / EDITORIAL</a:t>
            </a:r>
          </a:p>
        </p:txBody>
      </p:sp>
      <p:sp>
        <p:nvSpPr>
          <p:cNvPr id="4" name="Rectangle 3"/>
          <p:cNvSpPr/>
          <p:nvPr/>
        </p:nvSpPr>
        <p:spPr>
          <a:xfrm>
            <a:off x="533400" y="6604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33400" y="101346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10274300"/>
            <a:ext cx="6350000" cy="177800"/>
          </a:xfrm>
          <a:prstGeom prst="rect">
            <a:avLst/>
          </a:prstGeom>
          <a:noFill/>
        </p:spPr>
        <p:txBody>
          <a:bodyPr wrap="none" lIns="0" rIns="0" tIns="0" bIns="0">
            <a:spAutoFit/>
          </a:bodyPr>
          <a:lstStyle/>
          <a:p>
            <a:pPr>
              <a:defRPr sz="720">
                <a:latin typeface="DM Sans 9pt"/>
              </a:defRPr>
            </a:pPr>
            <a:r>
              <a:t>Sarah Safwan / Digital Marketing &amp; Creative Specialist                                                    13 / 17</a:t>
            </a:r>
          </a:p>
        </p:txBody>
      </p:sp>
      <p:sp>
        <p:nvSpPr>
          <p:cNvPr id="7" name="TextBox 6"/>
          <p:cNvSpPr txBox="1"/>
          <p:nvPr/>
        </p:nvSpPr>
        <p:spPr>
          <a:xfrm>
            <a:off x="533400" y="1104900"/>
            <a:ext cx="6489700" cy="1079500"/>
          </a:xfrm>
          <a:prstGeom prst="rect">
            <a:avLst/>
          </a:prstGeom>
          <a:noFill/>
        </p:spPr>
        <p:txBody>
          <a:bodyPr wrap="none" lIns="0" rIns="0" tIns="0" bIns="0">
            <a:spAutoFit/>
          </a:bodyPr>
          <a:lstStyle/>
          <a:p>
            <a:pPr>
              <a:lnSpc>
                <a:spcPts val="4000"/>
              </a:lnSpc>
              <a:spcAft>
                <a:spcPts val="0"/>
              </a:spcAft>
              <a:defRPr b="0" sz="3500">
                <a:solidFill>
                  <a:srgbClr val="1C1917"/>
                </a:solidFill>
                <a:latin typeface="Bodoni Moda"/>
              </a:defRPr>
            </a:pPr>
            <a:r>
              <a:t>One subject,</a:t>
            </a:r>
          </a:p>
          <a:p>
            <a:pPr>
              <a:lnSpc>
                <a:spcPts val="4000"/>
              </a:lnSpc>
              <a:spcAft>
                <a:spcPts val="0"/>
              </a:spcAft>
              <a:defRPr b="0" sz="3500">
                <a:solidFill>
                  <a:srgbClr val="1C1917"/>
                </a:solidFill>
                <a:latin typeface="Bodoni Moda"/>
              </a:defRPr>
            </a:pPr>
            <a:r>
              <a:t>different formats</a:t>
            </a:r>
          </a:p>
        </p:txBody>
      </p:sp>
      <p:sp>
        <p:nvSpPr>
          <p:cNvPr id="8" name="TextBox 7"/>
          <p:cNvSpPr txBox="1"/>
          <p:nvPr/>
        </p:nvSpPr>
        <p:spPr>
          <a:xfrm>
            <a:off x="533400" y="2286000"/>
            <a:ext cx="6489700" cy="254000"/>
          </a:xfrm>
          <a:prstGeom prst="rect">
            <a:avLst/>
          </a:prstGeom>
          <a:noFill/>
        </p:spPr>
        <p:txBody>
          <a:bodyPr wrap="none" lIns="0" rIns="0" tIns="0" bIns="0">
            <a:spAutoFit/>
          </a:bodyPr>
          <a:lstStyle/>
          <a:p>
            <a:pPr>
              <a:lnSpc>
                <a:spcPts val="1500"/>
              </a:lnSpc>
              <a:spcAft>
                <a:spcPts val="0"/>
              </a:spcAft>
              <a:defRPr b="1" sz="1000">
                <a:solidFill>
                  <a:srgbClr val="57534E"/>
                </a:solidFill>
                <a:latin typeface="DM Sans 9pt"/>
              </a:defRPr>
            </a:pPr>
            <a:r>
              <a:t>Research / Writing / Content planning / Visual communication</a:t>
            </a:r>
          </a:p>
        </p:txBody>
      </p:sp>
      <p:sp>
        <p:nvSpPr>
          <p:cNvPr id="9" name="TextBox 8"/>
          <p:cNvSpPr txBox="1"/>
          <p:nvPr/>
        </p:nvSpPr>
        <p:spPr>
          <a:xfrm>
            <a:off x="533400" y="2755900"/>
            <a:ext cx="6489700" cy="749300"/>
          </a:xfrm>
          <a:prstGeom prst="rect">
            <a:avLst/>
          </a:prstGeom>
          <a:noFill/>
        </p:spPr>
        <p:txBody>
          <a:bodyPr wrap="none" lIns="0" rIns="0" tIns="0" bIns="0">
            <a:spAutoFit/>
          </a:bodyPr>
          <a:lstStyle/>
          <a:p>
            <a:pPr>
              <a:lnSpc>
                <a:spcPts val="1800"/>
              </a:lnSpc>
              <a:spcAft>
                <a:spcPts val="0"/>
              </a:spcAft>
              <a:defRPr b="0" sz="1200">
                <a:solidFill>
                  <a:srgbClr val="1C1917"/>
                </a:solidFill>
                <a:latin typeface="DM Sans 9pt"/>
              </a:defRPr>
            </a:pPr>
            <a:r>
              <a:t>Managing both long-form publishing and social content required me to think about how an educational subject changes when the format changes. Medium supported written development; Instagram supported concise visual communication.</a:t>
            </a:r>
          </a:p>
        </p:txBody>
      </p:sp>
      <p:sp>
        <p:nvSpPr>
          <p:cNvPr id="10" name="Rectangle 9"/>
          <p:cNvSpPr/>
          <p:nvPr/>
        </p:nvSpPr>
        <p:spPr>
          <a:xfrm>
            <a:off x="533400" y="42418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3400" y="4521200"/>
            <a:ext cx="3048000" cy="444500"/>
          </a:xfrm>
          <a:prstGeom prst="rect">
            <a:avLst/>
          </a:prstGeom>
          <a:noFill/>
        </p:spPr>
        <p:txBody>
          <a:bodyPr wrap="none" lIns="0" rIns="0" tIns="0" bIns="0">
            <a:spAutoFit/>
          </a:bodyPr>
          <a:lstStyle/>
          <a:p>
            <a:pPr>
              <a:lnSpc>
                <a:spcPts val="3000"/>
              </a:lnSpc>
              <a:spcAft>
                <a:spcPts val="0"/>
              </a:spcAft>
              <a:defRPr b="0" sz="2400">
                <a:solidFill>
                  <a:srgbClr val="1C1917"/>
                </a:solidFill>
                <a:latin typeface="Bodoni Moda"/>
              </a:defRPr>
            </a:pPr>
            <a:r>
              <a:t>Long-form writing</a:t>
            </a:r>
          </a:p>
        </p:txBody>
      </p:sp>
      <p:sp>
        <p:nvSpPr>
          <p:cNvPr id="12" name="TextBox 11"/>
          <p:cNvSpPr txBox="1"/>
          <p:nvPr/>
        </p:nvSpPr>
        <p:spPr>
          <a:xfrm>
            <a:off x="3937000" y="4521200"/>
            <a:ext cx="3086100" cy="444500"/>
          </a:xfrm>
          <a:prstGeom prst="rect">
            <a:avLst/>
          </a:prstGeom>
          <a:noFill/>
        </p:spPr>
        <p:txBody>
          <a:bodyPr wrap="none" lIns="0" rIns="0" tIns="0" bIns="0">
            <a:spAutoFit/>
          </a:bodyPr>
          <a:lstStyle/>
          <a:p>
            <a:pPr>
              <a:lnSpc>
                <a:spcPts val="3000"/>
              </a:lnSpc>
              <a:spcAft>
                <a:spcPts val="0"/>
              </a:spcAft>
              <a:defRPr b="0" sz="2400">
                <a:solidFill>
                  <a:srgbClr val="1C1917"/>
                </a:solidFill>
                <a:latin typeface="Bodoni Moda"/>
              </a:defRPr>
            </a:pPr>
            <a:r>
              <a:t>Social content</a:t>
            </a:r>
          </a:p>
        </p:txBody>
      </p:sp>
      <p:sp>
        <p:nvSpPr>
          <p:cNvPr id="13" name="TextBox 12"/>
          <p:cNvSpPr txBox="1"/>
          <p:nvPr/>
        </p:nvSpPr>
        <p:spPr>
          <a:xfrm>
            <a:off x="533400" y="5283200"/>
            <a:ext cx="3048000" cy="1079500"/>
          </a:xfrm>
          <a:prstGeom prst="rect">
            <a:avLst/>
          </a:prstGeom>
          <a:noFill/>
        </p:spPr>
        <p:txBody>
          <a:bodyPr wrap="none" lIns="0" rIns="0" tIns="0" bIns="0">
            <a:spAutoFit/>
          </a:bodyPr>
          <a:lstStyle/>
          <a:p>
            <a:pPr>
              <a:lnSpc>
                <a:spcPts val="2000"/>
              </a:lnSpc>
              <a:spcAft>
                <a:spcPts val="0"/>
              </a:spcAft>
              <a:defRPr b="0" sz="1100">
                <a:solidFill>
                  <a:srgbClr val="1C1917"/>
                </a:solidFill>
                <a:latin typeface="DM Sans 9pt"/>
              </a:defRPr>
            </a:pPr>
            <a:r>
              <a:t>Researching topics</a:t>
            </a:r>
          </a:p>
          <a:p>
            <a:pPr>
              <a:lnSpc>
                <a:spcPts val="2000"/>
              </a:lnSpc>
              <a:spcAft>
                <a:spcPts val="0"/>
              </a:spcAft>
              <a:defRPr b="0" sz="1100">
                <a:solidFill>
                  <a:srgbClr val="1C1917"/>
                </a:solidFill>
                <a:latin typeface="DM Sans 9pt"/>
              </a:defRPr>
            </a:pPr>
            <a:r>
              <a:t>Developing written explanations</a:t>
            </a:r>
          </a:p>
          <a:p>
            <a:pPr>
              <a:lnSpc>
                <a:spcPts val="2000"/>
              </a:lnSpc>
              <a:spcAft>
                <a:spcPts val="0"/>
              </a:spcAft>
              <a:defRPr b="0" sz="1100">
                <a:solidFill>
                  <a:srgbClr val="1C1917"/>
                </a:solidFill>
                <a:latin typeface="DM Sans 9pt"/>
              </a:defRPr>
            </a:pPr>
            <a:r>
              <a:t>Organizing article structure</a:t>
            </a:r>
          </a:p>
          <a:p>
            <a:pPr>
              <a:lnSpc>
                <a:spcPts val="2000"/>
              </a:lnSpc>
              <a:spcAft>
                <a:spcPts val="0"/>
              </a:spcAft>
              <a:defRPr b="0" sz="1100">
                <a:solidFill>
                  <a:srgbClr val="1C1917"/>
                </a:solidFill>
                <a:latin typeface="DM Sans 9pt"/>
              </a:defRPr>
            </a:pPr>
            <a:r>
              <a:t>Publishing on Medium</a:t>
            </a:r>
          </a:p>
        </p:txBody>
      </p:sp>
      <p:sp>
        <p:nvSpPr>
          <p:cNvPr id="14" name="TextBox 13"/>
          <p:cNvSpPr txBox="1"/>
          <p:nvPr/>
        </p:nvSpPr>
        <p:spPr>
          <a:xfrm>
            <a:off x="3937000" y="5283200"/>
            <a:ext cx="3086100" cy="1079500"/>
          </a:xfrm>
          <a:prstGeom prst="rect">
            <a:avLst/>
          </a:prstGeom>
          <a:noFill/>
        </p:spPr>
        <p:txBody>
          <a:bodyPr wrap="none" lIns="0" rIns="0" tIns="0" bIns="0">
            <a:spAutoFit/>
          </a:bodyPr>
          <a:lstStyle/>
          <a:p>
            <a:pPr>
              <a:lnSpc>
                <a:spcPts val="2000"/>
              </a:lnSpc>
              <a:spcAft>
                <a:spcPts val="0"/>
              </a:spcAft>
              <a:defRPr b="0" sz="1100">
                <a:solidFill>
                  <a:srgbClr val="1C1917"/>
                </a:solidFill>
                <a:latin typeface="DM Sans 9pt"/>
              </a:defRPr>
            </a:pPr>
            <a:r>
              <a:t>Planning content</a:t>
            </a:r>
          </a:p>
          <a:p>
            <a:pPr>
              <a:lnSpc>
                <a:spcPts val="2000"/>
              </a:lnSpc>
              <a:spcAft>
                <a:spcPts val="0"/>
              </a:spcAft>
              <a:defRPr b="0" sz="1100">
                <a:solidFill>
                  <a:srgbClr val="1C1917"/>
                </a:solidFill>
                <a:latin typeface="DM Sans 9pt"/>
              </a:defRPr>
            </a:pPr>
            <a:r>
              <a:t>Producing graphics and carousels</a:t>
            </a:r>
          </a:p>
          <a:p>
            <a:pPr>
              <a:lnSpc>
                <a:spcPts val="2000"/>
              </a:lnSpc>
              <a:spcAft>
                <a:spcPts val="0"/>
              </a:spcAft>
              <a:defRPr b="0" sz="1100">
                <a:solidFill>
                  <a:srgbClr val="1C1917"/>
                </a:solidFill>
                <a:latin typeface="DM Sans 9pt"/>
              </a:defRPr>
            </a:pPr>
            <a:r>
              <a:t>Communicating ideas visually</a:t>
            </a:r>
          </a:p>
          <a:p>
            <a:pPr>
              <a:lnSpc>
                <a:spcPts val="2000"/>
              </a:lnSpc>
              <a:spcAft>
                <a:spcPts val="0"/>
              </a:spcAft>
              <a:defRPr b="0" sz="1100">
                <a:solidFill>
                  <a:srgbClr val="1C1917"/>
                </a:solidFill>
                <a:latin typeface="DM Sans 9pt"/>
              </a:defRPr>
            </a:pPr>
            <a:r>
              <a:t>Publishing on Instagram</a:t>
            </a:r>
          </a:p>
        </p:txBody>
      </p:sp>
      <p:sp>
        <p:nvSpPr>
          <p:cNvPr id="15" name="Rectangle 14"/>
          <p:cNvSpPr/>
          <p:nvPr/>
        </p:nvSpPr>
        <p:spPr>
          <a:xfrm>
            <a:off x="533400" y="73787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3400" y="7670800"/>
            <a:ext cx="64897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WHAT THE PROJECT DEMONSTRATES</a:t>
            </a:r>
          </a:p>
        </p:txBody>
      </p:sp>
      <p:sp>
        <p:nvSpPr>
          <p:cNvPr id="17" name="TextBox 16"/>
          <p:cNvSpPr txBox="1"/>
          <p:nvPr/>
        </p:nvSpPr>
        <p:spPr>
          <a:xfrm>
            <a:off x="533400" y="7950200"/>
            <a:ext cx="6489700" cy="673100"/>
          </a:xfrm>
          <a:prstGeom prst="rect">
            <a:avLst/>
          </a:prstGeom>
          <a:noFill/>
        </p:spPr>
        <p:txBody>
          <a:bodyPr wrap="none" lIns="0" rIns="0" tIns="0" bIns="0">
            <a:spAutoFit/>
          </a:bodyPr>
          <a:lstStyle/>
          <a:p>
            <a:pPr>
              <a:lnSpc>
                <a:spcPts val="1600"/>
              </a:lnSpc>
              <a:spcAft>
                <a:spcPts val="0"/>
              </a:spcAft>
              <a:defRPr b="0" sz="1100">
                <a:solidFill>
                  <a:srgbClr val="1C1917"/>
                </a:solidFill>
                <a:latin typeface="DM Sans 9pt"/>
              </a:defRPr>
            </a:pPr>
            <a:r>
              <a:t>Thy Academia connects research, editorial judgment, and independent project management. It shows my experience sustaining a defined subject area while handling both the writing and visual communication behind the platform.</a:t>
            </a:r>
          </a:p>
        </p:txBody>
      </p:sp>
      <p:sp>
        <p:nvSpPr>
          <p:cNvPr id="18" name="TextBox 17"/>
          <p:cNvSpPr txBox="1"/>
          <p:nvPr/>
        </p:nvSpPr>
        <p:spPr>
          <a:xfrm>
            <a:off x="533400" y="8978900"/>
            <a:ext cx="3048000" cy="431800"/>
          </a:xfrm>
          <a:prstGeom prst="rect">
            <a:avLst/>
          </a:prstGeom>
          <a:noFill/>
        </p:spPr>
        <p:txBody>
          <a:bodyPr wrap="none" lIns="0" rIns="0" tIns="0" bIns="0">
            <a:spAutoFit/>
          </a:bodyPr>
          <a:lstStyle/>
          <a:p>
            <a:pPr>
              <a:lnSpc>
                <a:spcPts val="2900"/>
              </a:lnSpc>
              <a:spcAft>
                <a:spcPts val="0"/>
              </a:spcAft>
              <a:defRPr b="0" sz="2300">
                <a:solidFill>
                  <a:srgbClr val="1C1917"/>
                </a:solidFill>
                <a:latin typeface="Bodoni Moda"/>
              </a:defRPr>
            </a:pPr>
            <a:r>
              <a:t>Content focus</a:t>
            </a:r>
          </a:p>
        </p:txBody>
      </p:sp>
      <p:sp>
        <p:nvSpPr>
          <p:cNvPr id="19" name="TextBox 18"/>
          <p:cNvSpPr txBox="1"/>
          <p:nvPr/>
        </p:nvSpPr>
        <p:spPr>
          <a:xfrm>
            <a:off x="533400" y="9550400"/>
            <a:ext cx="6489700" cy="330200"/>
          </a:xfrm>
          <a:prstGeom prst="rect">
            <a:avLst/>
          </a:prstGeom>
          <a:noFill/>
        </p:spPr>
        <p:txBody>
          <a:bodyPr wrap="none" lIns="0" rIns="0" tIns="0" bIns="0">
            <a:spAutoFit/>
          </a:bodyPr>
          <a:lstStyle/>
          <a:p>
            <a:pPr>
              <a:lnSpc>
                <a:spcPts val="2100"/>
              </a:lnSpc>
              <a:spcAft>
                <a:spcPts val="0"/>
              </a:spcAft>
              <a:defRPr b="1" sz="1300">
                <a:solidFill>
                  <a:srgbClr val="1C1917"/>
                </a:solidFill>
                <a:latin typeface="DM Sans 9pt"/>
              </a:defRPr>
            </a:pPr>
            <a:r>
              <a:t>Academic life / Studying / Productivity / Student wellbeing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3400" y="355600"/>
            <a:ext cx="44450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SARAH SAFWAN / PORTFOLIO 2026</a:t>
            </a:r>
          </a:p>
        </p:txBody>
      </p:sp>
      <p:sp>
        <p:nvSpPr>
          <p:cNvPr id="3" name="TextBox 2"/>
          <p:cNvSpPr txBox="1"/>
          <p:nvPr/>
        </p:nvSpPr>
        <p:spPr>
          <a:xfrm>
            <a:off x="5207000" y="355600"/>
            <a:ext cx="1816100" cy="203200"/>
          </a:xfrm>
          <a:prstGeom prst="rect">
            <a:avLst/>
          </a:prstGeom>
          <a:noFill/>
        </p:spPr>
        <p:txBody>
          <a:bodyPr wrap="none" lIns="0" rIns="0" tIns="0" bIns="0">
            <a:spAutoFit/>
          </a:bodyPr>
          <a:lstStyle/>
          <a:p>
            <a:pPr>
              <a:lnSpc>
                <a:spcPts val="1100"/>
              </a:lnSpc>
              <a:spcAft>
                <a:spcPts val="0"/>
              </a:spcAft>
              <a:defRPr b="1" sz="740">
                <a:solidFill>
                  <a:srgbClr val="57534E"/>
                </a:solidFill>
                <a:latin typeface="DM Sans 9pt"/>
              </a:defRPr>
            </a:pPr>
            <a:r>
              <a:t>AUDIO PRODUCTION</a:t>
            </a:r>
          </a:p>
        </p:txBody>
      </p:sp>
      <p:sp>
        <p:nvSpPr>
          <p:cNvPr id="4" name="Rectangle 3"/>
          <p:cNvSpPr/>
          <p:nvPr/>
        </p:nvSpPr>
        <p:spPr>
          <a:xfrm>
            <a:off x="533400" y="6604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33400" y="101346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10274300"/>
            <a:ext cx="6350000" cy="177800"/>
          </a:xfrm>
          <a:prstGeom prst="rect">
            <a:avLst/>
          </a:prstGeom>
          <a:noFill/>
        </p:spPr>
        <p:txBody>
          <a:bodyPr wrap="none" lIns="0" rIns="0" tIns="0" bIns="0">
            <a:spAutoFit/>
          </a:bodyPr>
          <a:lstStyle/>
          <a:p>
            <a:pPr>
              <a:defRPr sz="720">
                <a:latin typeface="DM Sans 9pt"/>
              </a:defRPr>
            </a:pPr>
            <a:r>
              <a:t>Sarah Safwan / Digital Marketing &amp; Creative Specialist                                                    14 / 17</a:t>
            </a:r>
          </a:p>
        </p:txBody>
      </p:sp>
      <p:sp>
        <p:nvSpPr>
          <p:cNvPr id="7" name="TextBox 6"/>
          <p:cNvSpPr txBox="1"/>
          <p:nvPr/>
        </p:nvSpPr>
        <p:spPr>
          <a:xfrm>
            <a:off x="533400" y="1104900"/>
            <a:ext cx="6489700" cy="571500"/>
          </a:xfrm>
          <a:prstGeom prst="rect">
            <a:avLst/>
          </a:prstGeom>
          <a:noFill/>
        </p:spPr>
        <p:txBody>
          <a:bodyPr wrap="none" lIns="0" rIns="0" tIns="0" bIns="0">
            <a:spAutoFit/>
          </a:bodyPr>
          <a:lstStyle/>
          <a:p>
            <a:pPr>
              <a:lnSpc>
                <a:spcPts val="4000"/>
              </a:lnSpc>
              <a:spcAft>
                <a:spcPts val="0"/>
              </a:spcAft>
              <a:defRPr b="0" sz="3500">
                <a:solidFill>
                  <a:srgbClr val="1C1917"/>
                </a:solidFill>
                <a:latin typeface="Bodoni Moda"/>
              </a:defRPr>
            </a:pPr>
            <a:r>
              <a:t>The Sae Talk</a:t>
            </a:r>
          </a:p>
        </p:txBody>
      </p:sp>
      <p:sp>
        <p:nvSpPr>
          <p:cNvPr id="8" name="TextBox 7"/>
          <p:cNvSpPr txBox="1"/>
          <p:nvPr/>
        </p:nvSpPr>
        <p:spPr>
          <a:xfrm>
            <a:off x="533400" y="1778000"/>
            <a:ext cx="6489700" cy="254000"/>
          </a:xfrm>
          <a:prstGeom prst="rect">
            <a:avLst/>
          </a:prstGeom>
          <a:noFill/>
        </p:spPr>
        <p:txBody>
          <a:bodyPr wrap="none" lIns="0" rIns="0" tIns="0" bIns="0">
            <a:spAutoFit/>
          </a:bodyPr>
          <a:lstStyle/>
          <a:p>
            <a:pPr>
              <a:lnSpc>
                <a:spcPts val="1500"/>
              </a:lnSpc>
              <a:spcAft>
                <a:spcPts val="0"/>
              </a:spcAft>
              <a:defRPr b="1" sz="1000">
                <a:solidFill>
                  <a:srgbClr val="57534E"/>
                </a:solidFill>
                <a:latin typeface="DM Sans 9pt"/>
              </a:defRPr>
            </a:pPr>
            <a:r>
              <a:t>Podcast Creator &amp; Host / Completed project</a:t>
            </a:r>
          </a:p>
        </p:txBody>
      </p:sp>
      <p:pic>
        <p:nvPicPr>
          <p:cNvPr id="9" name="Picture 8" descr="podcast-cover.jpg"/>
          <p:cNvPicPr>
            <a:picLocks noChangeAspect="1"/>
          </p:cNvPicPr>
          <p:nvPr/>
        </p:nvPicPr>
        <p:blipFill>
          <a:blip r:embed="rId2"/>
          <a:stretch>
            <a:fillRect/>
          </a:stretch>
        </p:blipFill>
        <p:spPr>
          <a:xfrm>
            <a:off x="533400" y="2247900"/>
            <a:ext cx="3009900" cy="3009900"/>
          </a:xfrm>
          <a:prstGeom prst="rect">
            <a:avLst/>
          </a:prstGeom>
        </p:spPr>
      </p:pic>
      <p:sp>
        <p:nvSpPr>
          <p:cNvPr id="10" name="TextBox 9"/>
          <p:cNvSpPr txBox="1"/>
          <p:nvPr/>
        </p:nvSpPr>
        <p:spPr>
          <a:xfrm>
            <a:off x="3937000" y="2425700"/>
            <a:ext cx="3086100" cy="1333500"/>
          </a:xfrm>
          <a:prstGeom prst="rect">
            <a:avLst/>
          </a:prstGeom>
          <a:noFill/>
        </p:spPr>
        <p:txBody>
          <a:bodyPr wrap="none" lIns="0" rIns="0" tIns="0" bIns="0">
            <a:spAutoFit/>
          </a:bodyPr>
          <a:lstStyle/>
          <a:p>
            <a:pPr>
              <a:lnSpc>
                <a:spcPts val="2500"/>
              </a:lnSpc>
              <a:spcAft>
                <a:spcPts val="0"/>
              </a:spcAft>
              <a:defRPr b="0" sz="1900">
                <a:solidFill>
                  <a:srgbClr val="1C1917"/>
                </a:solidFill>
                <a:latin typeface="Bodoni Moda"/>
              </a:defRPr>
            </a:pPr>
            <a:r>
              <a:t>An independently created podcast exploring personal growth, identity, and everyday experiences.</a:t>
            </a:r>
          </a:p>
        </p:txBody>
      </p:sp>
      <p:sp>
        <p:nvSpPr>
          <p:cNvPr id="11" name="TextBox 10"/>
          <p:cNvSpPr txBox="1"/>
          <p:nvPr/>
        </p:nvSpPr>
        <p:spPr>
          <a:xfrm>
            <a:off x="3937000" y="4610100"/>
            <a:ext cx="3086100" cy="673100"/>
          </a:xfrm>
          <a:prstGeom prst="rect">
            <a:avLst/>
          </a:prstGeom>
          <a:noFill/>
        </p:spPr>
        <p:txBody>
          <a:bodyPr wrap="none" lIns="0" rIns="0" tIns="0" bIns="0">
            <a:spAutoFit/>
          </a:bodyPr>
          <a:lstStyle/>
          <a:p>
            <a:pPr>
              <a:lnSpc>
                <a:spcPts val="1600"/>
              </a:lnSpc>
              <a:spcAft>
                <a:spcPts val="0"/>
              </a:spcAft>
              <a:defRPr b="0" sz="1100">
                <a:solidFill>
                  <a:srgbClr val="1C1917"/>
                </a:solidFill>
                <a:latin typeface="DM Sans 9pt"/>
              </a:defRPr>
            </a:pPr>
            <a:r>
              <a:t>I developed the concept, planned episodes, wrote scripts, recorded and edited the audio, and published the finished material.</a:t>
            </a:r>
          </a:p>
        </p:txBody>
      </p:sp>
      <p:sp>
        <p:nvSpPr>
          <p:cNvPr id="12" name="TextBox 11"/>
          <p:cNvSpPr txBox="1"/>
          <p:nvPr/>
        </p:nvSpPr>
        <p:spPr>
          <a:xfrm>
            <a:off x="533400" y="5905500"/>
            <a:ext cx="64897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FROM AN IDEA TO FINISHED AUDIO</a:t>
            </a:r>
          </a:p>
        </p:txBody>
      </p:sp>
      <p:sp>
        <p:nvSpPr>
          <p:cNvPr id="13" name="TextBox 12"/>
          <p:cNvSpPr txBox="1"/>
          <p:nvPr/>
        </p:nvSpPr>
        <p:spPr>
          <a:xfrm>
            <a:off x="533400" y="6184900"/>
            <a:ext cx="6489700" cy="673100"/>
          </a:xfrm>
          <a:prstGeom prst="rect">
            <a:avLst/>
          </a:prstGeom>
          <a:noFill/>
        </p:spPr>
        <p:txBody>
          <a:bodyPr wrap="none" lIns="0" rIns="0" tIns="0" bIns="0">
            <a:spAutoFit/>
          </a:bodyPr>
          <a:lstStyle/>
          <a:p>
            <a:pPr>
              <a:lnSpc>
                <a:spcPts val="1600"/>
              </a:lnSpc>
              <a:spcAft>
                <a:spcPts val="0"/>
              </a:spcAft>
              <a:defRPr b="0" sz="1100">
                <a:solidFill>
                  <a:srgbClr val="1C1917"/>
                </a:solidFill>
                <a:latin typeface="DM Sans 9pt"/>
              </a:defRPr>
            </a:pPr>
            <a:r>
              <a:t>The project brought editorial planning and production together in one format. Developing the subject and script was followed by recording, editing, and preparing the episode for publication. My role covered both the direction of the podcast and the work needed to produce it.</a:t>
            </a:r>
          </a:p>
        </p:txBody>
      </p:sp>
      <p:sp>
        <p:nvSpPr>
          <p:cNvPr id="14" name="TextBox 13"/>
          <p:cNvSpPr txBox="1"/>
          <p:nvPr/>
        </p:nvSpPr>
        <p:spPr>
          <a:xfrm>
            <a:off x="533400" y="7150100"/>
            <a:ext cx="6489700" cy="254000"/>
          </a:xfrm>
          <a:prstGeom prst="rect">
            <a:avLst/>
          </a:prstGeom>
          <a:noFill/>
        </p:spPr>
        <p:txBody>
          <a:bodyPr wrap="none" lIns="0" rIns="0" tIns="0" bIns="0">
            <a:spAutoFit/>
          </a:bodyPr>
          <a:lstStyle/>
          <a:p>
            <a:pPr>
              <a:lnSpc>
                <a:spcPts val="1500"/>
              </a:lnSpc>
              <a:spcAft>
                <a:spcPts val="0"/>
              </a:spcAft>
              <a:defRPr b="0" sz="1000">
                <a:solidFill>
                  <a:srgbClr val="57534E"/>
                </a:solidFill>
                <a:latin typeface="DM Sans 9pt"/>
              </a:defRPr>
            </a:pPr>
            <a:r>
              <a:t>The Sae Talk is presented here as a completed independent project.</a:t>
            </a:r>
          </a:p>
        </p:txBody>
      </p:sp>
      <p:sp>
        <p:nvSpPr>
          <p:cNvPr id="15" name="TextBox 14"/>
          <p:cNvSpPr txBox="1"/>
          <p:nvPr/>
        </p:nvSpPr>
        <p:spPr>
          <a:xfrm>
            <a:off x="533400" y="9169400"/>
            <a:ext cx="3086100" cy="254000"/>
          </a:xfrm>
          <a:prstGeom prst="rect">
            <a:avLst/>
          </a:prstGeom>
          <a:noFill/>
        </p:spPr>
        <p:txBody>
          <a:bodyPr wrap="none" lIns="0" rIns="0" tIns="0" bIns="0">
            <a:spAutoFit/>
          </a:bodyPr>
          <a:lstStyle/>
          <a:p>
            <a:pPr>
              <a:lnSpc>
                <a:spcPts val="1500"/>
              </a:lnSpc>
              <a:spcAft>
                <a:spcPts val="0"/>
              </a:spcAft>
              <a:defRPr b="1" sz="1000">
                <a:solidFill>
                  <a:srgbClr val="1C1917"/>
                </a:solidFill>
                <a:latin typeface="DM Sans 9pt"/>
              </a:defRPr>
            </a:pPr>
            <a:r>
              <a:rPr>
                <a:hlinkClick r:id="rId3"/>
              </a:rPr>
              <a:t>Listen on Spotify</a:t>
            </a:r>
          </a:p>
        </p:txBody>
      </p:sp>
      <p:sp>
        <p:nvSpPr>
          <p:cNvPr id="16" name="Rectangle 15"/>
          <p:cNvSpPr/>
          <p:nvPr/>
        </p:nvSpPr>
        <p:spPr>
          <a:xfrm>
            <a:off x="533400" y="9385300"/>
            <a:ext cx="994283"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37000" y="9169400"/>
            <a:ext cx="3086100" cy="254000"/>
          </a:xfrm>
          <a:prstGeom prst="rect">
            <a:avLst/>
          </a:prstGeom>
          <a:noFill/>
        </p:spPr>
        <p:txBody>
          <a:bodyPr wrap="none" lIns="0" rIns="0" tIns="0" bIns="0">
            <a:spAutoFit/>
          </a:bodyPr>
          <a:lstStyle/>
          <a:p>
            <a:pPr>
              <a:lnSpc>
                <a:spcPts val="1500"/>
              </a:lnSpc>
              <a:spcAft>
                <a:spcPts val="0"/>
              </a:spcAft>
              <a:defRPr b="1" sz="1000">
                <a:solidFill>
                  <a:srgbClr val="1C1917"/>
                </a:solidFill>
                <a:latin typeface="DM Sans 9pt"/>
              </a:defRPr>
            </a:pPr>
            <a:r>
              <a:rPr>
                <a:hlinkClick r:id="rId4"/>
              </a:rPr>
              <a:t>Listen on Apple Podcasts</a:t>
            </a:r>
          </a:p>
        </p:txBody>
      </p:sp>
      <p:sp>
        <p:nvSpPr>
          <p:cNvPr id="18" name="Rectangle 17"/>
          <p:cNvSpPr/>
          <p:nvPr/>
        </p:nvSpPr>
        <p:spPr>
          <a:xfrm>
            <a:off x="3937000" y="9385300"/>
            <a:ext cx="1496949"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3400" y="355600"/>
            <a:ext cx="44450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SARAH SAFWAN / PORTFOLIO 2026</a:t>
            </a:r>
          </a:p>
        </p:txBody>
      </p:sp>
      <p:sp>
        <p:nvSpPr>
          <p:cNvPr id="3" name="TextBox 2"/>
          <p:cNvSpPr txBox="1"/>
          <p:nvPr/>
        </p:nvSpPr>
        <p:spPr>
          <a:xfrm>
            <a:off x="5207000" y="355600"/>
            <a:ext cx="1816100" cy="203200"/>
          </a:xfrm>
          <a:prstGeom prst="rect">
            <a:avLst/>
          </a:prstGeom>
          <a:noFill/>
        </p:spPr>
        <p:txBody>
          <a:bodyPr wrap="none" lIns="0" rIns="0" tIns="0" bIns="0">
            <a:spAutoFit/>
          </a:bodyPr>
          <a:lstStyle/>
          <a:p>
            <a:pPr>
              <a:lnSpc>
                <a:spcPts val="1100"/>
              </a:lnSpc>
              <a:spcAft>
                <a:spcPts val="0"/>
              </a:spcAft>
              <a:defRPr b="1" sz="740">
                <a:solidFill>
                  <a:srgbClr val="57534E"/>
                </a:solidFill>
                <a:latin typeface="DM Sans 9pt"/>
              </a:defRPr>
            </a:pPr>
            <a:r>
              <a:t>EDITORIAL WRITING</a:t>
            </a:r>
          </a:p>
        </p:txBody>
      </p:sp>
      <p:sp>
        <p:nvSpPr>
          <p:cNvPr id="4" name="Rectangle 3"/>
          <p:cNvSpPr/>
          <p:nvPr/>
        </p:nvSpPr>
        <p:spPr>
          <a:xfrm>
            <a:off x="533400" y="6604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33400" y="101346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10274300"/>
            <a:ext cx="6350000" cy="177800"/>
          </a:xfrm>
          <a:prstGeom prst="rect">
            <a:avLst/>
          </a:prstGeom>
          <a:noFill/>
        </p:spPr>
        <p:txBody>
          <a:bodyPr wrap="none" lIns="0" rIns="0" tIns="0" bIns="0">
            <a:spAutoFit/>
          </a:bodyPr>
          <a:lstStyle/>
          <a:p>
            <a:pPr>
              <a:defRPr sz="720">
                <a:latin typeface="DM Sans 9pt"/>
              </a:defRPr>
            </a:pPr>
            <a:r>
              <a:t>Sarah Safwan / Digital Marketing &amp; Creative Specialist                                                    15 / 17</a:t>
            </a:r>
          </a:p>
        </p:txBody>
      </p:sp>
      <p:sp>
        <p:nvSpPr>
          <p:cNvPr id="7" name="TextBox 6"/>
          <p:cNvSpPr txBox="1"/>
          <p:nvPr/>
        </p:nvSpPr>
        <p:spPr>
          <a:xfrm>
            <a:off x="533400" y="1104900"/>
            <a:ext cx="6489700" cy="571500"/>
          </a:xfrm>
          <a:prstGeom prst="rect">
            <a:avLst/>
          </a:prstGeom>
          <a:noFill/>
        </p:spPr>
        <p:txBody>
          <a:bodyPr wrap="none" lIns="0" rIns="0" tIns="0" bIns="0">
            <a:spAutoFit/>
          </a:bodyPr>
          <a:lstStyle/>
          <a:p>
            <a:pPr>
              <a:lnSpc>
                <a:spcPts val="4000"/>
              </a:lnSpc>
              <a:spcAft>
                <a:spcPts val="0"/>
              </a:spcAft>
              <a:defRPr b="0" sz="3500">
                <a:solidFill>
                  <a:srgbClr val="1C1917"/>
                </a:solidFill>
                <a:latin typeface="Bodoni Moda"/>
              </a:defRPr>
            </a:pPr>
            <a:r>
              <a:t>Sarah Safwan</a:t>
            </a:r>
          </a:p>
        </p:txBody>
      </p:sp>
      <p:sp>
        <p:nvSpPr>
          <p:cNvPr id="8" name="TextBox 7"/>
          <p:cNvSpPr txBox="1"/>
          <p:nvPr/>
        </p:nvSpPr>
        <p:spPr>
          <a:xfrm>
            <a:off x="533400" y="1778000"/>
            <a:ext cx="6489700" cy="254000"/>
          </a:xfrm>
          <a:prstGeom prst="rect">
            <a:avLst/>
          </a:prstGeom>
          <a:noFill/>
        </p:spPr>
        <p:txBody>
          <a:bodyPr wrap="none" lIns="0" rIns="0" tIns="0" bIns="0">
            <a:spAutoFit/>
          </a:bodyPr>
          <a:lstStyle/>
          <a:p>
            <a:pPr>
              <a:lnSpc>
                <a:spcPts val="1500"/>
              </a:lnSpc>
              <a:spcAft>
                <a:spcPts val="0"/>
              </a:spcAft>
              <a:defRPr b="1" sz="1000">
                <a:solidFill>
                  <a:srgbClr val="57534E"/>
                </a:solidFill>
                <a:latin typeface="DM Sans 9pt"/>
              </a:defRPr>
            </a:pPr>
            <a:r>
              <a:t>Independent publication / Substack</a:t>
            </a:r>
          </a:p>
        </p:txBody>
      </p:sp>
      <p:sp>
        <p:nvSpPr>
          <p:cNvPr id="9" name="TextBox 8"/>
          <p:cNvSpPr txBox="1"/>
          <p:nvPr/>
        </p:nvSpPr>
        <p:spPr>
          <a:xfrm>
            <a:off x="533400" y="2247900"/>
            <a:ext cx="6489700" cy="1028700"/>
          </a:xfrm>
          <a:prstGeom prst="rect">
            <a:avLst/>
          </a:prstGeom>
          <a:noFill/>
        </p:spPr>
        <p:txBody>
          <a:bodyPr wrap="none" lIns="0" rIns="0" tIns="0" bIns="0">
            <a:spAutoFit/>
          </a:bodyPr>
          <a:lstStyle/>
          <a:p>
            <a:pPr>
              <a:lnSpc>
                <a:spcPts val="3800"/>
              </a:lnSpc>
              <a:spcAft>
                <a:spcPts val="0"/>
              </a:spcAft>
              <a:defRPr b="0" sz="3100">
                <a:solidFill>
                  <a:srgbClr val="1C1917"/>
                </a:solidFill>
                <a:latin typeface="Bodoni Moda"/>
              </a:defRPr>
            </a:pPr>
            <a:r>
              <a:t>Long-form writing</a:t>
            </a:r>
          </a:p>
          <a:p>
            <a:pPr>
              <a:lnSpc>
                <a:spcPts val="3800"/>
              </a:lnSpc>
              <a:spcAft>
                <a:spcPts val="0"/>
              </a:spcAft>
              <a:defRPr b="0" sz="3100">
                <a:solidFill>
                  <a:srgbClr val="1C1917"/>
                </a:solidFill>
                <a:latin typeface="Bodoni Moda"/>
              </a:defRPr>
            </a:pPr>
            <a:r>
              <a:t>and editorial judgment.</a:t>
            </a:r>
          </a:p>
        </p:txBody>
      </p:sp>
      <p:sp>
        <p:nvSpPr>
          <p:cNvPr id="10" name="TextBox 9"/>
          <p:cNvSpPr txBox="1"/>
          <p:nvPr/>
        </p:nvSpPr>
        <p:spPr>
          <a:xfrm>
            <a:off x="533400" y="3848100"/>
            <a:ext cx="6489700" cy="749300"/>
          </a:xfrm>
          <a:prstGeom prst="rect">
            <a:avLst/>
          </a:prstGeom>
          <a:noFill/>
        </p:spPr>
        <p:txBody>
          <a:bodyPr wrap="none" lIns="0" rIns="0" tIns="0" bIns="0">
            <a:spAutoFit/>
          </a:bodyPr>
          <a:lstStyle/>
          <a:p>
            <a:pPr>
              <a:lnSpc>
                <a:spcPts val="1800"/>
              </a:lnSpc>
              <a:spcAft>
                <a:spcPts val="0"/>
              </a:spcAft>
              <a:defRPr b="0" sz="1200">
                <a:solidFill>
                  <a:srgbClr val="1C1917"/>
                </a:solidFill>
                <a:latin typeface="DM Sans 9pt"/>
              </a:defRPr>
            </a:pPr>
            <a:r>
              <a:t>My independent publication is part of my writing and editorial practice. I develop article ideas, research topics where relevant, write long-form pieces, and edit the material for structure, clarity, and tone.</a:t>
            </a:r>
          </a:p>
        </p:txBody>
      </p:sp>
      <p:sp>
        <p:nvSpPr>
          <p:cNvPr id="11" name="Rectangle 10"/>
          <p:cNvSpPr/>
          <p:nvPr/>
        </p:nvSpPr>
        <p:spPr>
          <a:xfrm>
            <a:off x="533400" y="53721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3400" y="5600700"/>
            <a:ext cx="2260600" cy="723900"/>
          </a:xfrm>
          <a:prstGeom prst="rect">
            <a:avLst/>
          </a:prstGeom>
          <a:noFill/>
        </p:spPr>
        <p:txBody>
          <a:bodyPr wrap="none" lIns="0" rIns="0" tIns="0" bIns="0">
            <a:spAutoFit/>
          </a:bodyPr>
          <a:lstStyle/>
          <a:p>
            <a:pPr>
              <a:lnSpc>
                <a:spcPts val="2600"/>
              </a:lnSpc>
              <a:spcAft>
                <a:spcPts val="0"/>
              </a:spcAft>
              <a:defRPr b="0" sz="2000">
                <a:solidFill>
                  <a:srgbClr val="1C1917"/>
                </a:solidFill>
                <a:latin typeface="Bodoni Moda"/>
              </a:defRPr>
            </a:pPr>
            <a:r>
              <a:t>Subject development</a:t>
            </a:r>
          </a:p>
        </p:txBody>
      </p:sp>
      <p:sp>
        <p:nvSpPr>
          <p:cNvPr id="13" name="TextBox 12"/>
          <p:cNvSpPr txBox="1"/>
          <p:nvPr/>
        </p:nvSpPr>
        <p:spPr>
          <a:xfrm>
            <a:off x="3149600" y="5600700"/>
            <a:ext cx="3873500" cy="469900"/>
          </a:xfrm>
          <a:prstGeom prst="rect">
            <a:avLst/>
          </a:prstGeom>
          <a:noFill/>
        </p:spPr>
        <p:txBody>
          <a:bodyPr wrap="none" lIns="0" rIns="0" tIns="0" bIns="0">
            <a:spAutoFit/>
          </a:bodyPr>
          <a:lstStyle/>
          <a:p>
            <a:pPr>
              <a:lnSpc>
                <a:spcPts val="1600"/>
              </a:lnSpc>
              <a:spcAft>
                <a:spcPts val="0"/>
              </a:spcAft>
              <a:defRPr b="0" sz="1100">
                <a:solidFill>
                  <a:srgbClr val="1C1917"/>
                </a:solidFill>
                <a:latin typeface="DM Sans 9pt"/>
              </a:defRPr>
            </a:pPr>
            <a:r>
              <a:t>Considering the subject, the perspective I want to take, and how the piece can develop beyond its starting point.</a:t>
            </a:r>
          </a:p>
        </p:txBody>
      </p:sp>
      <p:sp>
        <p:nvSpPr>
          <p:cNvPr id="14" name="Rectangle 13"/>
          <p:cNvSpPr/>
          <p:nvPr/>
        </p:nvSpPr>
        <p:spPr>
          <a:xfrm>
            <a:off x="533400" y="67056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3400" y="6934200"/>
            <a:ext cx="2260600" cy="723900"/>
          </a:xfrm>
          <a:prstGeom prst="rect">
            <a:avLst/>
          </a:prstGeom>
          <a:noFill/>
        </p:spPr>
        <p:txBody>
          <a:bodyPr wrap="none" lIns="0" rIns="0" tIns="0" bIns="0">
            <a:spAutoFit/>
          </a:bodyPr>
          <a:lstStyle/>
          <a:p>
            <a:pPr>
              <a:lnSpc>
                <a:spcPts val="2600"/>
              </a:lnSpc>
              <a:spcAft>
                <a:spcPts val="0"/>
              </a:spcAft>
              <a:defRPr b="0" sz="2000">
                <a:solidFill>
                  <a:srgbClr val="1C1917"/>
                </a:solidFill>
                <a:latin typeface="Bodoni Moda"/>
              </a:defRPr>
            </a:pPr>
            <a:r>
              <a:t>Writing and structure</a:t>
            </a:r>
          </a:p>
        </p:txBody>
      </p:sp>
      <p:sp>
        <p:nvSpPr>
          <p:cNvPr id="16" name="TextBox 15"/>
          <p:cNvSpPr txBox="1"/>
          <p:nvPr/>
        </p:nvSpPr>
        <p:spPr>
          <a:xfrm>
            <a:off x="3149600" y="6934200"/>
            <a:ext cx="3873500" cy="673100"/>
          </a:xfrm>
          <a:prstGeom prst="rect">
            <a:avLst/>
          </a:prstGeom>
          <a:noFill/>
        </p:spPr>
        <p:txBody>
          <a:bodyPr wrap="none" lIns="0" rIns="0" tIns="0" bIns="0">
            <a:spAutoFit/>
          </a:bodyPr>
          <a:lstStyle/>
          <a:p>
            <a:pPr>
              <a:lnSpc>
                <a:spcPts val="1600"/>
              </a:lnSpc>
              <a:spcAft>
                <a:spcPts val="0"/>
              </a:spcAft>
              <a:defRPr b="0" sz="1100">
                <a:solidFill>
                  <a:srgbClr val="1C1917"/>
                </a:solidFill>
                <a:latin typeface="DM Sans 9pt"/>
              </a:defRPr>
            </a:pPr>
            <a:r>
              <a:t>Developing a longer piece through connected ideas, with attention to the relationship between its paragraphs and overall argument.</a:t>
            </a:r>
          </a:p>
        </p:txBody>
      </p:sp>
      <p:sp>
        <p:nvSpPr>
          <p:cNvPr id="17" name="Rectangle 16"/>
          <p:cNvSpPr/>
          <p:nvPr/>
        </p:nvSpPr>
        <p:spPr>
          <a:xfrm>
            <a:off x="533400" y="80391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3400" y="8267700"/>
            <a:ext cx="2260600" cy="393700"/>
          </a:xfrm>
          <a:prstGeom prst="rect">
            <a:avLst/>
          </a:prstGeom>
          <a:noFill/>
        </p:spPr>
        <p:txBody>
          <a:bodyPr wrap="none" lIns="0" rIns="0" tIns="0" bIns="0">
            <a:spAutoFit/>
          </a:bodyPr>
          <a:lstStyle/>
          <a:p>
            <a:pPr>
              <a:lnSpc>
                <a:spcPts val="2600"/>
              </a:lnSpc>
              <a:spcAft>
                <a:spcPts val="0"/>
              </a:spcAft>
              <a:defRPr b="0" sz="2000">
                <a:solidFill>
                  <a:srgbClr val="1C1917"/>
                </a:solidFill>
                <a:latin typeface="Bodoni Moda"/>
              </a:defRPr>
            </a:pPr>
            <a:r>
              <a:t>Editing</a:t>
            </a:r>
          </a:p>
        </p:txBody>
      </p:sp>
      <p:sp>
        <p:nvSpPr>
          <p:cNvPr id="19" name="TextBox 18"/>
          <p:cNvSpPr txBox="1"/>
          <p:nvPr/>
        </p:nvSpPr>
        <p:spPr>
          <a:xfrm>
            <a:off x="3149600" y="8267700"/>
            <a:ext cx="3873500" cy="469900"/>
          </a:xfrm>
          <a:prstGeom prst="rect">
            <a:avLst/>
          </a:prstGeom>
          <a:noFill/>
        </p:spPr>
        <p:txBody>
          <a:bodyPr wrap="none" lIns="0" rIns="0" tIns="0" bIns="0">
            <a:spAutoFit/>
          </a:bodyPr>
          <a:lstStyle/>
          <a:p>
            <a:pPr>
              <a:lnSpc>
                <a:spcPts val="1600"/>
              </a:lnSpc>
              <a:spcAft>
                <a:spcPts val="0"/>
              </a:spcAft>
              <a:defRPr b="0" sz="1100">
                <a:solidFill>
                  <a:srgbClr val="1C1917"/>
                </a:solidFill>
                <a:latin typeface="DM Sans 9pt"/>
              </a:defRPr>
            </a:pPr>
            <a:r>
              <a:t>Revisiting the draft to refine the wording, progression, and tone before publication.</a:t>
            </a:r>
          </a:p>
        </p:txBody>
      </p:sp>
      <p:sp>
        <p:nvSpPr>
          <p:cNvPr id="20" name="TextBox 19"/>
          <p:cNvSpPr txBox="1"/>
          <p:nvPr/>
        </p:nvSpPr>
        <p:spPr>
          <a:xfrm>
            <a:off x="533400" y="9245600"/>
            <a:ext cx="3086100" cy="254000"/>
          </a:xfrm>
          <a:prstGeom prst="rect">
            <a:avLst/>
          </a:prstGeom>
          <a:noFill/>
        </p:spPr>
        <p:txBody>
          <a:bodyPr wrap="none" lIns="0" rIns="0" tIns="0" bIns="0">
            <a:spAutoFit/>
          </a:bodyPr>
          <a:lstStyle/>
          <a:p>
            <a:pPr>
              <a:lnSpc>
                <a:spcPts val="1500"/>
              </a:lnSpc>
              <a:spcAft>
                <a:spcPts val="0"/>
              </a:spcAft>
              <a:defRPr b="1" sz="1000">
                <a:solidFill>
                  <a:srgbClr val="1C1917"/>
                </a:solidFill>
                <a:latin typeface="DM Sans 9pt"/>
              </a:defRPr>
            </a:pPr>
            <a:r>
              <a:rPr>
                <a:hlinkClick r:id="rId2"/>
              </a:rPr>
              <a:t>Read Sarah Safwan on Substack</a:t>
            </a:r>
          </a:p>
        </p:txBody>
      </p:sp>
      <p:sp>
        <p:nvSpPr>
          <p:cNvPr id="21" name="Rectangle 20"/>
          <p:cNvSpPr/>
          <p:nvPr/>
        </p:nvSpPr>
        <p:spPr>
          <a:xfrm>
            <a:off x="533400" y="9461500"/>
            <a:ext cx="1881505"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3400" y="355600"/>
            <a:ext cx="44450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SARAH SAFWAN / PORTFOLIO 2026</a:t>
            </a:r>
          </a:p>
        </p:txBody>
      </p:sp>
      <p:sp>
        <p:nvSpPr>
          <p:cNvPr id="3" name="TextBox 2"/>
          <p:cNvSpPr txBox="1"/>
          <p:nvPr/>
        </p:nvSpPr>
        <p:spPr>
          <a:xfrm>
            <a:off x="5207000" y="355600"/>
            <a:ext cx="1816100" cy="203200"/>
          </a:xfrm>
          <a:prstGeom prst="rect">
            <a:avLst/>
          </a:prstGeom>
          <a:noFill/>
        </p:spPr>
        <p:txBody>
          <a:bodyPr wrap="none" lIns="0" rIns="0" tIns="0" bIns="0">
            <a:spAutoFit/>
          </a:bodyPr>
          <a:lstStyle/>
          <a:p>
            <a:pPr>
              <a:lnSpc>
                <a:spcPts val="1100"/>
              </a:lnSpc>
              <a:spcAft>
                <a:spcPts val="0"/>
              </a:spcAft>
              <a:defRPr b="1" sz="740">
                <a:solidFill>
                  <a:srgbClr val="57534E"/>
                </a:solidFill>
                <a:latin typeface="DM Sans 9pt"/>
              </a:defRPr>
            </a:pPr>
            <a:r>
              <a:t>TOOLS &amp; TRAINING</a:t>
            </a:r>
          </a:p>
        </p:txBody>
      </p:sp>
      <p:sp>
        <p:nvSpPr>
          <p:cNvPr id="4" name="Rectangle 3"/>
          <p:cNvSpPr/>
          <p:nvPr/>
        </p:nvSpPr>
        <p:spPr>
          <a:xfrm>
            <a:off x="533400" y="6604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33400" y="101346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10274300"/>
            <a:ext cx="6350000" cy="177800"/>
          </a:xfrm>
          <a:prstGeom prst="rect">
            <a:avLst/>
          </a:prstGeom>
          <a:noFill/>
        </p:spPr>
        <p:txBody>
          <a:bodyPr wrap="none" lIns="0" rIns="0" tIns="0" bIns="0">
            <a:spAutoFit/>
          </a:bodyPr>
          <a:lstStyle/>
          <a:p>
            <a:pPr>
              <a:defRPr sz="720">
                <a:latin typeface="DM Sans 9pt"/>
              </a:defRPr>
            </a:pPr>
            <a:r>
              <a:t>Sarah Safwan / Digital Marketing &amp; Creative Specialist                                                    16 / 17</a:t>
            </a:r>
          </a:p>
        </p:txBody>
      </p:sp>
      <p:sp>
        <p:nvSpPr>
          <p:cNvPr id="7" name="TextBox 6"/>
          <p:cNvSpPr txBox="1"/>
          <p:nvPr/>
        </p:nvSpPr>
        <p:spPr>
          <a:xfrm>
            <a:off x="533400" y="1104900"/>
            <a:ext cx="6489700" cy="571500"/>
          </a:xfrm>
          <a:prstGeom prst="rect">
            <a:avLst/>
          </a:prstGeom>
          <a:noFill/>
        </p:spPr>
        <p:txBody>
          <a:bodyPr wrap="none" lIns="0" rIns="0" tIns="0" bIns="0">
            <a:spAutoFit/>
          </a:bodyPr>
          <a:lstStyle/>
          <a:p>
            <a:pPr>
              <a:lnSpc>
                <a:spcPts val="4000"/>
              </a:lnSpc>
              <a:spcAft>
                <a:spcPts val="0"/>
              </a:spcAft>
              <a:defRPr b="0" sz="3500">
                <a:solidFill>
                  <a:srgbClr val="1C1917"/>
                </a:solidFill>
                <a:latin typeface="Bodoni Moda"/>
              </a:defRPr>
            </a:pPr>
            <a:r>
              <a:t>Professional toolkit</a:t>
            </a:r>
          </a:p>
        </p:txBody>
      </p:sp>
      <p:sp>
        <p:nvSpPr>
          <p:cNvPr id="8" name="TextBox 7"/>
          <p:cNvSpPr txBox="1"/>
          <p:nvPr/>
        </p:nvSpPr>
        <p:spPr>
          <a:xfrm>
            <a:off x="533400" y="1778000"/>
            <a:ext cx="6489700" cy="254000"/>
          </a:xfrm>
          <a:prstGeom prst="rect">
            <a:avLst/>
          </a:prstGeom>
          <a:noFill/>
        </p:spPr>
        <p:txBody>
          <a:bodyPr wrap="none" lIns="0" rIns="0" tIns="0" bIns="0">
            <a:spAutoFit/>
          </a:bodyPr>
          <a:lstStyle/>
          <a:p>
            <a:pPr>
              <a:lnSpc>
                <a:spcPts val="1500"/>
              </a:lnSpc>
              <a:spcAft>
                <a:spcPts val="0"/>
              </a:spcAft>
              <a:defRPr b="1" sz="1000">
                <a:solidFill>
                  <a:srgbClr val="57534E"/>
                </a:solidFill>
                <a:latin typeface="DM Sans 9pt"/>
              </a:defRPr>
            </a:pPr>
            <a:r>
              <a:t>Selected platforms and completed qualifications</a:t>
            </a:r>
          </a:p>
        </p:txBody>
      </p:sp>
      <p:sp>
        <p:nvSpPr>
          <p:cNvPr id="9" name="TextBox 8"/>
          <p:cNvSpPr txBox="1"/>
          <p:nvPr/>
        </p:nvSpPr>
        <p:spPr>
          <a:xfrm>
            <a:off x="533400" y="2247900"/>
            <a:ext cx="30861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MARKETING</a:t>
            </a:r>
          </a:p>
        </p:txBody>
      </p:sp>
      <p:sp>
        <p:nvSpPr>
          <p:cNvPr id="10" name="TextBox 9"/>
          <p:cNvSpPr txBox="1"/>
          <p:nvPr/>
        </p:nvSpPr>
        <p:spPr>
          <a:xfrm>
            <a:off x="533400" y="2540000"/>
            <a:ext cx="3086100" cy="444500"/>
          </a:xfrm>
          <a:prstGeom prst="rect">
            <a:avLst/>
          </a:prstGeom>
          <a:noFill/>
        </p:spPr>
        <p:txBody>
          <a:bodyPr wrap="none" lIns="0" rIns="0" tIns="0" bIns="0">
            <a:spAutoFit/>
          </a:bodyPr>
          <a:lstStyle/>
          <a:p>
            <a:pPr>
              <a:lnSpc>
                <a:spcPts val="1500"/>
              </a:lnSpc>
              <a:spcAft>
                <a:spcPts val="0"/>
              </a:spcAft>
              <a:defRPr b="0" sz="1000">
                <a:solidFill>
                  <a:srgbClr val="1C1917"/>
                </a:solidFill>
                <a:latin typeface="DM Sans 9pt"/>
              </a:defRPr>
            </a:pPr>
            <a:r>
              <a:t>Meta Business Suite, Google Trends, Google Keyword Planner, HubSpot, Ubersuggest.</a:t>
            </a:r>
          </a:p>
        </p:txBody>
      </p:sp>
      <p:sp>
        <p:nvSpPr>
          <p:cNvPr id="11" name="TextBox 10"/>
          <p:cNvSpPr txBox="1"/>
          <p:nvPr/>
        </p:nvSpPr>
        <p:spPr>
          <a:xfrm>
            <a:off x="3937000" y="2247900"/>
            <a:ext cx="30861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CREATIVE</a:t>
            </a:r>
          </a:p>
        </p:txBody>
      </p:sp>
      <p:sp>
        <p:nvSpPr>
          <p:cNvPr id="12" name="TextBox 11"/>
          <p:cNvSpPr txBox="1"/>
          <p:nvPr/>
        </p:nvSpPr>
        <p:spPr>
          <a:xfrm>
            <a:off x="3937000" y="2540000"/>
            <a:ext cx="3086100" cy="254000"/>
          </a:xfrm>
          <a:prstGeom prst="rect">
            <a:avLst/>
          </a:prstGeom>
          <a:noFill/>
        </p:spPr>
        <p:txBody>
          <a:bodyPr wrap="none" lIns="0" rIns="0" tIns="0" bIns="0">
            <a:spAutoFit/>
          </a:bodyPr>
          <a:lstStyle/>
          <a:p>
            <a:pPr>
              <a:lnSpc>
                <a:spcPts val="1500"/>
              </a:lnSpc>
              <a:spcAft>
                <a:spcPts val="0"/>
              </a:spcAft>
              <a:defRPr b="0" sz="1000">
                <a:solidFill>
                  <a:srgbClr val="1C1917"/>
                </a:solidFill>
                <a:latin typeface="DM Sans 9pt"/>
              </a:defRPr>
            </a:pPr>
            <a:r>
              <a:t>Canva, CapCut, Final Cut Pro, Higgsfield.</a:t>
            </a:r>
          </a:p>
        </p:txBody>
      </p:sp>
      <p:sp>
        <p:nvSpPr>
          <p:cNvPr id="13" name="TextBox 12"/>
          <p:cNvSpPr txBox="1"/>
          <p:nvPr/>
        </p:nvSpPr>
        <p:spPr>
          <a:xfrm>
            <a:off x="533400" y="3454400"/>
            <a:ext cx="30861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WRITING &amp; ORGANIZATION</a:t>
            </a:r>
          </a:p>
        </p:txBody>
      </p:sp>
      <p:sp>
        <p:nvSpPr>
          <p:cNvPr id="14" name="TextBox 13"/>
          <p:cNvSpPr txBox="1"/>
          <p:nvPr/>
        </p:nvSpPr>
        <p:spPr>
          <a:xfrm>
            <a:off x="533400" y="3746500"/>
            <a:ext cx="3086100" cy="254000"/>
          </a:xfrm>
          <a:prstGeom prst="rect">
            <a:avLst/>
          </a:prstGeom>
          <a:noFill/>
        </p:spPr>
        <p:txBody>
          <a:bodyPr wrap="none" lIns="0" rIns="0" tIns="0" bIns="0">
            <a:spAutoFit/>
          </a:bodyPr>
          <a:lstStyle/>
          <a:p>
            <a:pPr>
              <a:lnSpc>
                <a:spcPts val="1500"/>
              </a:lnSpc>
              <a:spcAft>
                <a:spcPts val="0"/>
              </a:spcAft>
              <a:defRPr b="0" sz="1000">
                <a:solidFill>
                  <a:srgbClr val="1C1917"/>
                </a:solidFill>
                <a:latin typeface="DM Sans 9pt"/>
              </a:defRPr>
            </a:pPr>
            <a:r>
              <a:t>Notion, Google Docs, Microsoft Word.</a:t>
            </a:r>
          </a:p>
        </p:txBody>
      </p:sp>
      <p:sp>
        <p:nvSpPr>
          <p:cNvPr id="15" name="TextBox 14"/>
          <p:cNvSpPr txBox="1"/>
          <p:nvPr/>
        </p:nvSpPr>
        <p:spPr>
          <a:xfrm>
            <a:off x="3937000" y="3454400"/>
            <a:ext cx="30861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WEB</a:t>
            </a:r>
          </a:p>
        </p:txBody>
      </p:sp>
      <p:sp>
        <p:nvSpPr>
          <p:cNvPr id="16" name="TextBox 15"/>
          <p:cNvSpPr txBox="1"/>
          <p:nvPr/>
        </p:nvSpPr>
        <p:spPr>
          <a:xfrm>
            <a:off x="3937000" y="3746500"/>
            <a:ext cx="3086100" cy="254000"/>
          </a:xfrm>
          <a:prstGeom prst="rect">
            <a:avLst/>
          </a:prstGeom>
          <a:noFill/>
        </p:spPr>
        <p:txBody>
          <a:bodyPr wrap="none" lIns="0" rIns="0" tIns="0" bIns="0">
            <a:spAutoFit/>
          </a:bodyPr>
          <a:lstStyle/>
          <a:p>
            <a:pPr>
              <a:lnSpc>
                <a:spcPts val="1500"/>
              </a:lnSpc>
              <a:spcAft>
                <a:spcPts val="0"/>
              </a:spcAft>
              <a:defRPr b="0" sz="1000">
                <a:solidFill>
                  <a:srgbClr val="1C1917"/>
                </a:solidFill>
                <a:latin typeface="DM Sans 9pt"/>
              </a:defRPr>
            </a:pPr>
            <a:r>
              <a:t>VS Code, GitHub, HTML/CSS, website builders.</a:t>
            </a:r>
          </a:p>
        </p:txBody>
      </p:sp>
      <p:sp>
        <p:nvSpPr>
          <p:cNvPr id="17" name="Rectangle 16"/>
          <p:cNvSpPr/>
          <p:nvPr/>
        </p:nvSpPr>
        <p:spPr>
          <a:xfrm>
            <a:off x="533400" y="49911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3400" y="5270500"/>
            <a:ext cx="6489700" cy="444500"/>
          </a:xfrm>
          <a:prstGeom prst="rect">
            <a:avLst/>
          </a:prstGeom>
          <a:noFill/>
        </p:spPr>
        <p:txBody>
          <a:bodyPr wrap="none" lIns="0" rIns="0" tIns="0" bIns="0">
            <a:spAutoFit/>
          </a:bodyPr>
          <a:lstStyle/>
          <a:p>
            <a:pPr>
              <a:lnSpc>
                <a:spcPts val="3000"/>
              </a:lnSpc>
              <a:spcAft>
                <a:spcPts val="0"/>
              </a:spcAft>
              <a:defRPr b="0" sz="2400">
                <a:solidFill>
                  <a:srgbClr val="1C1917"/>
                </a:solidFill>
                <a:latin typeface="Bodoni Moda"/>
              </a:defRPr>
            </a:pPr>
            <a:r>
              <a:t>Completed qualifications</a:t>
            </a:r>
          </a:p>
        </p:txBody>
      </p:sp>
      <p:sp>
        <p:nvSpPr>
          <p:cNvPr id="19" name="TextBox 18"/>
          <p:cNvSpPr txBox="1"/>
          <p:nvPr/>
        </p:nvSpPr>
        <p:spPr>
          <a:xfrm>
            <a:off x="533400" y="5943600"/>
            <a:ext cx="30861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GOOGLE</a:t>
            </a:r>
          </a:p>
        </p:txBody>
      </p:sp>
      <p:sp>
        <p:nvSpPr>
          <p:cNvPr id="20" name="TextBox 19"/>
          <p:cNvSpPr txBox="1"/>
          <p:nvPr/>
        </p:nvSpPr>
        <p:spPr>
          <a:xfrm>
            <a:off x="533400" y="6248400"/>
            <a:ext cx="3086100" cy="266700"/>
          </a:xfrm>
          <a:prstGeom prst="rect">
            <a:avLst/>
          </a:prstGeom>
          <a:noFill/>
        </p:spPr>
        <p:txBody>
          <a:bodyPr wrap="none" lIns="0" rIns="0" tIns="0" bIns="0">
            <a:spAutoFit/>
          </a:bodyPr>
          <a:lstStyle/>
          <a:p>
            <a:pPr>
              <a:lnSpc>
                <a:spcPts val="1600"/>
              </a:lnSpc>
              <a:spcAft>
                <a:spcPts val="0"/>
              </a:spcAft>
              <a:defRPr b="0" sz="980">
                <a:solidFill>
                  <a:srgbClr val="1C1917"/>
                </a:solidFill>
                <a:latin typeface="DM Sans 9pt"/>
              </a:defRPr>
            </a:pPr>
            <a:r>
              <a:t>Fundamentals of Digital Marketing</a:t>
            </a:r>
          </a:p>
        </p:txBody>
      </p:sp>
      <p:sp>
        <p:nvSpPr>
          <p:cNvPr id="21" name="TextBox 20"/>
          <p:cNvSpPr txBox="1"/>
          <p:nvPr/>
        </p:nvSpPr>
        <p:spPr>
          <a:xfrm>
            <a:off x="3937000" y="5943600"/>
            <a:ext cx="30861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HUBSPOT ACADEMY</a:t>
            </a:r>
          </a:p>
        </p:txBody>
      </p:sp>
      <p:sp>
        <p:nvSpPr>
          <p:cNvPr id="22" name="TextBox 21"/>
          <p:cNvSpPr txBox="1"/>
          <p:nvPr/>
        </p:nvSpPr>
        <p:spPr>
          <a:xfrm>
            <a:off x="3937000" y="6248400"/>
            <a:ext cx="3086100" cy="1282700"/>
          </a:xfrm>
          <a:prstGeom prst="rect">
            <a:avLst/>
          </a:prstGeom>
          <a:noFill/>
        </p:spPr>
        <p:txBody>
          <a:bodyPr wrap="none" lIns="0" rIns="0" tIns="0" bIns="0">
            <a:spAutoFit/>
          </a:bodyPr>
          <a:lstStyle/>
          <a:p>
            <a:pPr>
              <a:lnSpc>
                <a:spcPts val="1600"/>
              </a:lnSpc>
              <a:spcAft>
                <a:spcPts val="0"/>
              </a:spcAft>
              <a:defRPr b="0" sz="980">
                <a:solidFill>
                  <a:srgbClr val="1C1917"/>
                </a:solidFill>
                <a:latin typeface="DM Sans 9pt"/>
              </a:defRPr>
            </a:pPr>
            <a:r>
              <a:t>Social Media Marketing</a:t>
            </a:r>
          </a:p>
          <a:p>
            <a:pPr>
              <a:lnSpc>
                <a:spcPts val="1600"/>
              </a:lnSpc>
              <a:spcAft>
                <a:spcPts val="0"/>
              </a:spcAft>
              <a:defRPr b="0" sz="980">
                <a:solidFill>
                  <a:srgbClr val="1C1917"/>
                </a:solidFill>
                <a:latin typeface="DM Sans 9pt"/>
              </a:defRPr>
            </a:pPr>
            <a:r>
              <a:t>Digital Advertising</a:t>
            </a:r>
          </a:p>
          <a:p>
            <a:pPr>
              <a:lnSpc>
                <a:spcPts val="1600"/>
              </a:lnSpc>
              <a:spcAft>
                <a:spcPts val="0"/>
              </a:spcAft>
              <a:defRPr b="0" sz="980">
                <a:solidFill>
                  <a:srgbClr val="1C1917"/>
                </a:solidFill>
                <a:latin typeface="DM Sans 9pt"/>
              </a:defRPr>
            </a:pPr>
            <a:r>
              <a:t>SEO</a:t>
            </a:r>
          </a:p>
          <a:p>
            <a:pPr>
              <a:lnSpc>
                <a:spcPts val="1600"/>
              </a:lnSpc>
              <a:spcAft>
                <a:spcPts val="0"/>
              </a:spcAft>
              <a:defRPr b="0" sz="980">
                <a:solidFill>
                  <a:srgbClr val="1C1917"/>
                </a:solidFill>
                <a:latin typeface="DM Sans 9pt"/>
              </a:defRPr>
            </a:pPr>
            <a:r>
              <a:t>Email Marketing</a:t>
            </a:r>
          </a:p>
          <a:p>
            <a:pPr>
              <a:lnSpc>
                <a:spcPts val="1600"/>
              </a:lnSpc>
              <a:spcAft>
                <a:spcPts val="0"/>
              </a:spcAft>
              <a:defRPr b="0" sz="980">
                <a:solidFill>
                  <a:srgbClr val="1C1917"/>
                </a:solidFill>
                <a:latin typeface="DM Sans 9pt"/>
              </a:defRPr>
            </a:pPr>
            <a:r>
              <a:t>Inbound Marketing</a:t>
            </a:r>
          </a:p>
          <a:p>
            <a:pPr>
              <a:lnSpc>
                <a:spcPts val="1600"/>
              </a:lnSpc>
              <a:spcAft>
                <a:spcPts val="0"/>
              </a:spcAft>
              <a:defRPr b="0" sz="980">
                <a:solidFill>
                  <a:srgbClr val="1C1917"/>
                </a:solidFill>
                <a:latin typeface="DM Sans 9pt"/>
              </a:defRPr>
            </a:pPr>
            <a:r>
              <a:t>Content Marketing</a:t>
            </a:r>
          </a:p>
        </p:txBody>
      </p:sp>
      <p:sp>
        <p:nvSpPr>
          <p:cNvPr id="23" name="TextBox 22"/>
          <p:cNvSpPr txBox="1"/>
          <p:nvPr/>
        </p:nvSpPr>
        <p:spPr>
          <a:xfrm>
            <a:off x="533400" y="7124700"/>
            <a:ext cx="30861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LINKEDIN LEARNING / TRAINING</a:t>
            </a:r>
          </a:p>
        </p:txBody>
      </p:sp>
      <p:sp>
        <p:nvSpPr>
          <p:cNvPr id="24" name="TextBox 23"/>
          <p:cNvSpPr txBox="1"/>
          <p:nvPr/>
        </p:nvSpPr>
        <p:spPr>
          <a:xfrm>
            <a:off x="533400" y="7429500"/>
            <a:ext cx="3086100" cy="1689100"/>
          </a:xfrm>
          <a:prstGeom prst="rect">
            <a:avLst/>
          </a:prstGeom>
          <a:noFill/>
        </p:spPr>
        <p:txBody>
          <a:bodyPr wrap="none" lIns="0" rIns="0" tIns="0" bIns="0">
            <a:spAutoFit/>
          </a:bodyPr>
          <a:lstStyle/>
          <a:p>
            <a:pPr>
              <a:lnSpc>
                <a:spcPts val="1600"/>
              </a:lnSpc>
              <a:spcAft>
                <a:spcPts val="0"/>
              </a:spcAft>
              <a:defRPr b="0" sz="980">
                <a:solidFill>
                  <a:srgbClr val="1C1917"/>
                </a:solidFill>
                <a:latin typeface="DM Sans 9pt"/>
              </a:defRPr>
            </a:pPr>
            <a:r>
              <a:t>Social Media Marketing Strategy</a:t>
            </a:r>
          </a:p>
          <a:p>
            <a:pPr>
              <a:lnSpc>
                <a:spcPts val="1600"/>
              </a:lnSpc>
              <a:spcAft>
                <a:spcPts val="0"/>
              </a:spcAft>
              <a:defRPr b="0" sz="980">
                <a:solidFill>
                  <a:srgbClr val="1C1917"/>
                </a:solidFill>
                <a:latin typeface="DM Sans 9pt"/>
              </a:defRPr>
            </a:pPr>
            <a:r>
              <a:t>Content Creation</a:t>
            </a:r>
          </a:p>
          <a:p>
            <a:pPr>
              <a:lnSpc>
                <a:spcPts val="1600"/>
              </a:lnSpc>
              <a:spcAft>
                <a:spcPts val="0"/>
              </a:spcAft>
              <a:defRPr b="0" sz="980">
                <a:solidFill>
                  <a:srgbClr val="1C1917"/>
                </a:solidFill>
                <a:latin typeface="DM Sans 9pt"/>
              </a:defRPr>
            </a:pPr>
            <a:r>
              <a:t>Marketing Analytics</a:t>
            </a:r>
          </a:p>
          <a:p>
            <a:pPr>
              <a:lnSpc>
                <a:spcPts val="1600"/>
              </a:lnSpc>
              <a:spcAft>
                <a:spcPts val="0"/>
              </a:spcAft>
              <a:defRPr b="0" sz="980">
                <a:solidFill>
                  <a:srgbClr val="1C1917"/>
                </a:solidFill>
                <a:latin typeface="DM Sans 9pt"/>
              </a:defRPr>
            </a:pPr>
            <a:r>
              <a:t>Consumer Behaviour</a:t>
            </a:r>
          </a:p>
          <a:p>
            <a:pPr>
              <a:lnSpc>
                <a:spcPts val="1600"/>
              </a:lnSpc>
              <a:spcAft>
                <a:spcPts val="0"/>
              </a:spcAft>
              <a:defRPr b="0" sz="980">
                <a:solidFill>
                  <a:srgbClr val="1C1917"/>
                </a:solidFill>
                <a:latin typeface="DM Sans 9pt"/>
              </a:defRPr>
            </a:pPr>
            <a:r>
              <a:t>Product Marketing</a:t>
            </a:r>
          </a:p>
          <a:p>
            <a:pPr>
              <a:lnSpc>
                <a:spcPts val="1600"/>
              </a:lnSpc>
              <a:spcAft>
                <a:spcPts val="0"/>
              </a:spcAft>
              <a:defRPr b="0" sz="980">
                <a:solidFill>
                  <a:srgbClr val="1C1917"/>
                </a:solidFill>
                <a:latin typeface="DM Sans 9pt"/>
              </a:defRPr>
            </a:pPr>
            <a:r>
              <a:t>Strategic Partnerships</a:t>
            </a:r>
          </a:p>
          <a:p>
            <a:pPr>
              <a:lnSpc>
                <a:spcPts val="1600"/>
              </a:lnSpc>
              <a:spcAft>
                <a:spcPts val="0"/>
              </a:spcAft>
              <a:defRPr b="0" sz="980">
                <a:solidFill>
                  <a:srgbClr val="1C1917"/>
                </a:solidFill>
                <a:latin typeface="DM Sans 9pt"/>
              </a:defRPr>
            </a:pPr>
            <a:r>
              <a:t>AI for Marketing</a:t>
            </a:r>
          </a:p>
          <a:p>
            <a:pPr>
              <a:lnSpc>
                <a:spcPts val="1600"/>
              </a:lnSpc>
              <a:spcAft>
                <a:spcPts val="0"/>
              </a:spcAft>
              <a:defRPr b="0" sz="980">
                <a:solidFill>
                  <a:srgbClr val="1C1917"/>
                </a:solidFill>
                <a:latin typeface="DM Sans 9pt"/>
              </a:defRPr>
            </a:pPr>
            <a:r>
              <a:t>High-Impact Storytelling</a:t>
            </a:r>
          </a:p>
        </p:txBody>
      </p:sp>
      <p:sp>
        <p:nvSpPr>
          <p:cNvPr id="25" name="TextBox 24"/>
          <p:cNvSpPr txBox="1"/>
          <p:nvPr/>
        </p:nvSpPr>
        <p:spPr>
          <a:xfrm>
            <a:off x="3937000" y="8293100"/>
            <a:ext cx="30861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EF SET</a:t>
            </a:r>
          </a:p>
        </p:txBody>
      </p:sp>
      <p:sp>
        <p:nvSpPr>
          <p:cNvPr id="26" name="TextBox 25"/>
          <p:cNvSpPr txBox="1"/>
          <p:nvPr/>
        </p:nvSpPr>
        <p:spPr>
          <a:xfrm>
            <a:off x="3937000" y="8597900"/>
            <a:ext cx="3086100" cy="469900"/>
          </a:xfrm>
          <a:prstGeom prst="rect">
            <a:avLst/>
          </a:prstGeom>
          <a:noFill/>
        </p:spPr>
        <p:txBody>
          <a:bodyPr wrap="none" lIns="0" rIns="0" tIns="0" bIns="0">
            <a:spAutoFit/>
          </a:bodyPr>
          <a:lstStyle/>
          <a:p>
            <a:pPr>
              <a:lnSpc>
                <a:spcPts val="1600"/>
              </a:lnSpc>
              <a:spcAft>
                <a:spcPts val="0"/>
              </a:spcAft>
              <a:defRPr b="0" sz="980">
                <a:solidFill>
                  <a:srgbClr val="1C1917"/>
                </a:solidFill>
                <a:latin typeface="DM Sans 9pt"/>
              </a:defRPr>
            </a:pPr>
            <a:r>
              <a:t>English Proficiency Certificate</a:t>
            </a:r>
          </a:p>
          <a:p>
            <a:pPr>
              <a:lnSpc>
                <a:spcPts val="1600"/>
              </a:lnSpc>
              <a:spcAft>
                <a:spcPts val="0"/>
              </a:spcAft>
              <a:defRPr b="0" sz="980">
                <a:solidFill>
                  <a:srgbClr val="1C1917"/>
                </a:solidFill>
                <a:latin typeface="DM Sans 9pt"/>
              </a:defRPr>
            </a:pPr>
            <a:r>
              <a:t>C2 / 74 out of 100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3400" y="355600"/>
            <a:ext cx="44450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SARAH SAFWAN / PORTFOLIO 2026</a:t>
            </a:r>
          </a:p>
        </p:txBody>
      </p:sp>
      <p:sp>
        <p:nvSpPr>
          <p:cNvPr id="3" name="TextBox 2"/>
          <p:cNvSpPr txBox="1"/>
          <p:nvPr/>
        </p:nvSpPr>
        <p:spPr>
          <a:xfrm>
            <a:off x="5207000" y="355600"/>
            <a:ext cx="1816100" cy="203200"/>
          </a:xfrm>
          <a:prstGeom prst="rect">
            <a:avLst/>
          </a:prstGeom>
          <a:noFill/>
        </p:spPr>
        <p:txBody>
          <a:bodyPr wrap="none" lIns="0" rIns="0" tIns="0" bIns="0">
            <a:spAutoFit/>
          </a:bodyPr>
          <a:lstStyle/>
          <a:p>
            <a:pPr>
              <a:lnSpc>
                <a:spcPts val="1100"/>
              </a:lnSpc>
              <a:spcAft>
                <a:spcPts val="0"/>
              </a:spcAft>
              <a:defRPr b="1" sz="740">
                <a:solidFill>
                  <a:srgbClr val="57534E"/>
                </a:solidFill>
                <a:latin typeface="DM Sans 9pt"/>
              </a:defRPr>
            </a:pPr>
            <a:r>
              <a:t>CONTACT</a:t>
            </a:r>
          </a:p>
        </p:txBody>
      </p:sp>
      <p:sp>
        <p:nvSpPr>
          <p:cNvPr id="4" name="Rectangle 3"/>
          <p:cNvSpPr/>
          <p:nvPr/>
        </p:nvSpPr>
        <p:spPr>
          <a:xfrm>
            <a:off x="533400" y="6604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33400" y="101346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3400" y="10274300"/>
            <a:ext cx="6350000" cy="177800"/>
          </a:xfrm>
          <a:prstGeom prst="rect">
            <a:avLst/>
          </a:prstGeom>
          <a:noFill/>
        </p:spPr>
        <p:txBody>
          <a:bodyPr wrap="none" lIns="0" rIns="0" tIns="0" bIns="0">
            <a:spAutoFit/>
          </a:bodyPr>
          <a:lstStyle/>
          <a:p>
            <a:pPr>
              <a:defRPr sz="720">
                <a:latin typeface="DM Sans 9pt"/>
              </a:defRPr>
            </a:pPr>
            <a:r>
              <a:t>Sarah Safwan / Digital Marketing &amp; Creative Specialist                                                    17 / 17</a:t>
            </a:r>
          </a:p>
        </p:txBody>
      </p:sp>
      <p:sp>
        <p:nvSpPr>
          <p:cNvPr id="7" name="TextBox 6"/>
          <p:cNvSpPr txBox="1"/>
          <p:nvPr/>
        </p:nvSpPr>
        <p:spPr>
          <a:xfrm>
            <a:off x="533400" y="1384300"/>
            <a:ext cx="6477000" cy="215900"/>
          </a:xfrm>
          <a:prstGeom prst="rect">
            <a:avLst/>
          </a:prstGeom>
          <a:noFill/>
        </p:spPr>
        <p:txBody>
          <a:bodyPr wrap="none" lIns="0" rIns="0" tIns="0" bIns="0">
            <a:spAutoFit/>
          </a:bodyPr>
          <a:lstStyle/>
          <a:p>
            <a:pPr>
              <a:lnSpc>
                <a:spcPts val="1200"/>
              </a:lnSpc>
              <a:spcAft>
                <a:spcPts val="0"/>
              </a:spcAft>
              <a:defRPr b="1" sz="840">
                <a:solidFill>
                  <a:srgbClr val="57534E"/>
                </a:solidFill>
                <a:latin typeface="DM Sans 9pt"/>
              </a:defRPr>
            </a:pPr>
            <a:r>
              <a:t>CONTACT</a:t>
            </a:r>
          </a:p>
        </p:txBody>
      </p:sp>
      <p:sp>
        <p:nvSpPr>
          <p:cNvPr id="8" name="TextBox 7"/>
          <p:cNvSpPr txBox="1"/>
          <p:nvPr/>
        </p:nvSpPr>
        <p:spPr>
          <a:xfrm>
            <a:off x="495300" y="2235200"/>
            <a:ext cx="6540500" cy="1993900"/>
          </a:xfrm>
          <a:prstGeom prst="rect">
            <a:avLst/>
          </a:prstGeom>
          <a:noFill/>
        </p:spPr>
        <p:txBody>
          <a:bodyPr wrap="none" lIns="0" rIns="0" tIns="0" bIns="0">
            <a:spAutoFit/>
          </a:bodyPr>
          <a:lstStyle/>
          <a:p>
            <a:pPr>
              <a:lnSpc>
                <a:spcPts val="7600"/>
              </a:lnSpc>
              <a:spcAft>
                <a:spcPts val="0"/>
              </a:spcAft>
              <a:defRPr b="0" sz="6700">
                <a:solidFill>
                  <a:srgbClr val="1C1917"/>
                </a:solidFill>
                <a:latin typeface="Bodoni Moda"/>
              </a:defRPr>
            </a:pPr>
            <a:r>
              <a:t>SARAH</a:t>
            </a:r>
          </a:p>
          <a:p>
            <a:pPr>
              <a:lnSpc>
                <a:spcPts val="7600"/>
              </a:lnSpc>
              <a:spcAft>
                <a:spcPts val="0"/>
              </a:spcAft>
              <a:defRPr b="0" sz="6700">
                <a:solidFill>
                  <a:srgbClr val="1C1917"/>
                </a:solidFill>
                <a:latin typeface="Bodoni Moda"/>
              </a:defRPr>
            </a:pPr>
            <a:r>
              <a:t>SAFWAN</a:t>
            </a:r>
          </a:p>
        </p:txBody>
      </p:sp>
      <p:sp>
        <p:nvSpPr>
          <p:cNvPr id="9" name="TextBox 8"/>
          <p:cNvSpPr txBox="1"/>
          <p:nvPr/>
        </p:nvSpPr>
        <p:spPr>
          <a:xfrm>
            <a:off x="533400" y="4432300"/>
            <a:ext cx="6489700" cy="368300"/>
          </a:xfrm>
          <a:prstGeom prst="rect">
            <a:avLst/>
          </a:prstGeom>
          <a:noFill/>
        </p:spPr>
        <p:txBody>
          <a:bodyPr wrap="none" lIns="0" rIns="0" tIns="0" bIns="0">
            <a:spAutoFit/>
          </a:bodyPr>
          <a:lstStyle/>
          <a:p>
            <a:pPr>
              <a:lnSpc>
                <a:spcPts val="2400"/>
              </a:lnSpc>
              <a:spcAft>
                <a:spcPts val="0"/>
              </a:spcAft>
              <a:defRPr b="1" sz="1700">
                <a:solidFill>
                  <a:srgbClr val="1C1917"/>
                </a:solidFill>
                <a:latin typeface="DM Sans 9pt"/>
              </a:defRPr>
            </a:pPr>
            <a:r>
              <a:t>Digital Marketing &amp; Creative Specialist</a:t>
            </a:r>
          </a:p>
        </p:txBody>
      </p:sp>
      <p:sp>
        <p:nvSpPr>
          <p:cNvPr id="10" name="Rectangle 9"/>
          <p:cNvSpPr/>
          <p:nvPr/>
        </p:nvSpPr>
        <p:spPr>
          <a:xfrm>
            <a:off x="533400" y="5067300"/>
            <a:ext cx="6489700"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3400" y="5461000"/>
            <a:ext cx="6489700" cy="774700"/>
          </a:xfrm>
          <a:prstGeom prst="rect">
            <a:avLst/>
          </a:prstGeom>
          <a:noFill/>
        </p:spPr>
        <p:txBody>
          <a:bodyPr wrap="none" lIns="0" rIns="0" tIns="0" bIns="0">
            <a:spAutoFit/>
          </a:bodyPr>
          <a:lstStyle/>
          <a:p>
            <a:pPr>
              <a:lnSpc>
                <a:spcPts val="2800"/>
              </a:lnSpc>
              <a:spcAft>
                <a:spcPts val="0"/>
              </a:spcAft>
              <a:defRPr b="0" sz="2000">
                <a:solidFill>
                  <a:srgbClr val="1C1917"/>
                </a:solidFill>
                <a:latin typeface="Bodoni Moda"/>
              </a:defRPr>
            </a:pPr>
            <a:r>
              <a:t>Interested in working together? You can reach me by email or connect with me on LinkedIn.</a:t>
            </a:r>
          </a:p>
        </p:txBody>
      </p:sp>
      <p:sp>
        <p:nvSpPr>
          <p:cNvPr id="12" name="TextBox 11"/>
          <p:cNvSpPr txBox="1"/>
          <p:nvPr/>
        </p:nvSpPr>
        <p:spPr>
          <a:xfrm>
            <a:off x="533400" y="6946900"/>
            <a:ext cx="6350000" cy="254000"/>
          </a:xfrm>
          <a:prstGeom prst="rect">
            <a:avLst/>
          </a:prstGeom>
          <a:noFill/>
        </p:spPr>
        <p:txBody>
          <a:bodyPr wrap="none" lIns="0" rIns="0" tIns="0" bIns="0">
            <a:spAutoFit/>
          </a:bodyPr>
          <a:lstStyle/>
          <a:p>
            <a:pPr>
              <a:lnSpc>
                <a:spcPts val="1500"/>
              </a:lnSpc>
              <a:spcAft>
                <a:spcPts val="0"/>
              </a:spcAft>
              <a:defRPr b="1" sz="1000">
                <a:solidFill>
                  <a:srgbClr val="1C1917"/>
                </a:solidFill>
                <a:latin typeface="DM Sans 9pt"/>
              </a:defRPr>
            </a:pPr>
            <a:r>
              <a:rPr>
                <a:hlinkClick r:id="rId2"/>
              </a:rPr>
              <a:t>Email / sarahsaafwan@gmail.com</a:t>
            </a:r>
          </a:p>
        </p:txBody>
      </p:sp>
      <p:sp>
        <p:nvSpPr>
          <p:cNvPr id="13" name="Rectangle 12"/>
          <p:cNvSpPr/>
          <p:nvPr/>
        </p:nvSpPr>
        <p:spPr>
          <a:xfrm>
            <a:off x="533400" y="7162800"/>
            <a:ext cx="1961895"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3400" y="7556500"/>
            <a:ext cx="6350000" cy="254000"/>
          </a:xfrm>
          <a:prstGeom prst="rect">
            <a:avLst/>
          </a:prstGeom>
          <a:noFill/>
        </p:spPr>
        <p:txBody>
          <a:bodyPr wrap="none" lIns="0" rIns="0" tIns="0" bIns="0">
            <a:spAutoFit/>
          </a:bodyPr>
          <a:lstStyle/>
          <a:p>
            <a:pPr>
              <a:lnSpc>
                <a:spcPts val="1500"/>
              </a:lnSpc>
              <a:spcAft>
                <a:spcPts val="0"/>
              </a:spcAft>
              <a:defRPr b="1" sz="1000">
                <a:solidFill>
                  <a:srgbClr val="1C1917"/>
                </a:solidFill>
                <a:latin typeface="DM Sans 9pt"/>
              </a:defRPr>
            </a:pPr>
            <a:r>
              <a:rPr>
                <a:hlinkClick r:id="rId3"/>
              </a:rPr>
              <a:t>LinkedIn / sarahsafwan</a:t>
            </a:r>
          </a:p>
        </p:txBody>
      </p:sp>
      <p:sp>
        <p:nvSpPr>
          <p:cNvPr id="15" name="Rectangle 14"/>
          <p:cNvSpPr/>
          <p:nvPr/>
        </p:nvSpPr>
        <p:spPr>
          <a:xfrm>
            <a:off x="533400" y="7772400"/>
            <a:ext cx="1342898"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3400" y="8166100"/>
            <a:ext cx="6350000" cy="254000"/>
          </a:xfrm>
          <a:prstGeom prst="rect">
            <a:avLst/>
          </a:prstGeom>
          <a:noFill/>
        </p:spPr>
        <p:txBody>
          <a:bodyPr wrap="none" lIns="0" rIns="0" tIns="0" bIns="0">
            <a:spAutoFit/>
          </a:bodyPr>
          <a:lstStyle/>
          <a:p>
            <a:pPr>
              <a:lnSpc>
                <a:spcPts val="1500"/>
              </a:lnSpc>
              <a:spcAft>
                <a:spcPts val="0"/>
              </a:spcAft>
              <a:defRPr b="1" sz="1000">
                <a:solidFill>
                  <a:srgbClr val="1C1917"/>
                </a:solidFill>
                <a:latin typeface="DM Sans 9pt"/>
              </a:defRPr>
            </a:pPr>
            <a:r>
              <a:rPr>
                <a:hlinkClick r:id="rId4"/>
              </a:rPr>
              <a:t>Portfolio / View selected work online</a:t>
            </a:r>
          </a:p>
        </p:txBody>
      </p:sp>
      <p:sp>
        <p:nvSpPr>
          <p:cNvPr id="17" name="Rectangle 16"/>
          <p:cNvSpPr/>
          <p:nvPr/>
        </p:nvSpPr>
        <p:spPr>
          <a:xfrm>
            <a:off x="533400" y="8382000"/>
            <a:ext cx="2147316"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3400" y="8775700"/>
            <a:ext cx="6350000" cy="254000"/>
          </a:xfrm>
          <a:prstGeom prst="rect">
            <a:avLst/>
          </a:prstGeom>
          <a:noFill/>
        </p:spPr>
        <p:txBody>
          <a:bodyPr wrap="none" lIns="0" rIns="0" tIns="0" bIns="0">
            <a:spAutoFit/>
          </a:bodyPr>
          <a:lstStyle/>
          <a:p>
            <a:pPr>
              <a:lnSpc>
                <a:spcPts val="1500"/>
              </a:lnSpc>
              <a:spcAft>
                <a:spcPts val="0"/>
              </a:spcAft>
              <a:defRPr b="1" sz="1000">
                <a:solidFill>
                  <a:srgbClr val="1C1917"/>
                </a:solidFill>
                <a:latin typeface="DM Sans 9pt"/>
              </a:defRPr>
            </a:pPr>
            <a:r>
              <a:rPr>
                <a:hlinkClick r:id="rId5"/>
              </a:rPr>
              <a:t>Instagram / sarahsaafwan</a:t>
            </a:r>
          </a:p>
        </p:txBody>
      </p:sp>
      <p:sp>
        <p:nvSpPr>
          <p:cNvPr id="19" name="Rectangle 18"/>
          <p:cNvSpPr/>
          <p:nvPr/>
        </p:nvSpPr>
        <p:spPr>
          <a:xfrm>
            <a:off x="533400" y="8991600"/>
            <a:ext cx="1508633" cy="6350"/>
          </a:xfrm>
          <a:prstGeom prst="rect">
            <a:avLst/>
          </a:prstGeom>
          <a:solidFill>
            <a:srgbClr val="B9B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Sarah Safwan | Portfolio 2026</dc:title>
  <dc:subject/>
  <dc:creator>Sarah Safwan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